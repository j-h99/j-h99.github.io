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9f83f6f2654fd6" /><Relationship Type="http://schemas.openxmlformats.org/officeDocument/2006/relationships/extended-properties" Target="/docProps/app.xml" Id="Rf987f14a014a4a3c" /><Relationship Type="http://schemas.openxmlformats.org/officeDocument/2006/relationships/officeDocument" Target="/ppt/presentation.xml" Id="R5d33f6fbdd4648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fca58e42a14e85"/>
  </p:sldMasterIdLst>
  <p:notesMasterIdLst>
    <p:notesMasterId xmlns:r="http://schemas.openxmlformats.org/officeDocument/2006/relationships" r:id="Rd7a7cbe9cb6d4b63"/>
  </p:notesMasterIdLst>
  <p:sldIdLst>
    <p:sldId xmlns:r="http://schemas.openxmlformats.org/officeDocument/2006/relationships" id="256" r:id="R08e6dffe3cbe4785"/>
    <p:sldId xmlns:r="http://schemas.openxmlformats.org/officeDocument/2006/relationships" id="257" r:id="R3bd9f3263ff245c9"/>
    <p:sldId xmlns:r="http://schemas.openxmlformats.org/officeDocument/2006/relationships" id="258" r:id="R93b6bbc47867477a"/>
    <p:sldId xmlns:r="http://schemas.openxmlformats.org/officeDocument/2006/relationships" id="259" r:id="Rd175da16c94c4e13"/>
    <p:sldId xmlns:r="http://schemas.openxmlformats.org/officeDocument/2006/relationships" id="260" r:id="R77b46c12aa864791"/>
    <p:sldId xmlns:r="http://schemas.openxmlformats.org/officeDocument/2006/relationships" id="261" r:id="R0a563789a3dd4494"/>
    <p:sldId xmlns:r="http://schemas.openxmlformats.org/officeDocument/2006/relationships" id="262" r:id="R258f4fe87bf54be0"/>
    <p:sldId xmlns:r="http://schemas.openxmlformats.org/officeDocument/2006/relationships" id="263" r:id="Ref84666d7c324356"/>
    <p:sldId xmlns:r="http://schemas.openxmlformats.org/officeDocument/2006/relationships" id="264" r:id="R8f433c023c794771"/>
    <p:sldId xmlns:r="http://schemas.openxmlformats.org/officeDocument/2006/relationships" id="265" r:id="R6b2889e7c27b4b16"/>
    <p:sldId xmlns:r="http://schemas.openxmlformats.org/officeDocument/2006/relationships" id="266" r:id="R0c40e165de2245fa"/>
    <p:sldId xmlns:r="http://schemas.openxmlformats.org/officeDocument/2006/relationships" id="267" r:id="Rfc9a975d40144310"/>
    <p:sldId xmlns:r="http://schemas.openxmlformats.org/officeDocument/2006/relationships" id="268" r:id="R4f7b223066524011"/>
    <p:sldId xmlns:r="http://schemas.openxmlformats.org/officeDocument/2006/relationships" id="269" r:id="R02acf8c2594348f3"/>
    <p:sldId xmlns:r="http://schemas.openxmlformats.org/officeDocument/2006/relationships" id="270" r:id="Ra5ad5425f89e46d8"/>
    <p:sldId xmlns:r="http://schemas.openxmlformats.org/officeDocument/2006/relationships" id="271" r:id="R34bd596a4784468f"/>
    <p:sldId xmlns:r="http://schemas.openxmlformats.org/officeDocument/2006/relationships" id="272" r:id="R53304f496e5b4eb5"/>
    <p:sldId xmlns:r="http://schemas.openxmlformats.org/officeDocument/2006/relationships" id="273" r:id="R638ab6543b0d4896"/>
    <p:sldId xmlns:r="http://schemas.openxmlformats.org/officeDocument/2006/relationships" id="274" r:id="R9e6602bdd76b4052"/>
    <p:sldId xmlns:r="http://schemas.openxmlformats.org/officeDocument/2006/relationships" id="275" r:id="Rff31e3dbdac043b9"/>
    <p:sldId xmlns:r="http://schemas.openxmlformats.org/officeDocument/2006/relationships" id="276" r:id="R3ba892e9b03b4ace"/>
    <p:sldId xmlns:r="http://schemas.openxmlformats.org/officeDocument/2006/relationships" id="277" r:id="R3b631a8e74e94190"/>
    <p:sldId xmlns:r="http://schemas.openxmlformats.org/officeDocument/2006/relationships" id="278" r:id="Rb5be1073e6d9448b"/>
    <p:sldId xmlns:r="http://schemas.openxmlformats.org/officeDocument/2006/relationships" id="279" r:id="R6e0504ab071047cd"/>
    <p:sldId xmlns:r="http://schemas.openxmlformats.org/officeDocument/2006/relationships" id="280" r:id="R041152ce89214dd1"/>
    <p:sldId xmlns:r="http://schemas.openxmlformats.org/officeDocument/2006/relationships" id="281" r:id="R5101198492f44976"/>
    <p:sldId xmlns:r="http://schemas.openxmlformats.org/officeDocument/2006/relationships" id="282" r:id="Re8059b44e005467b"/>
    <p:sldId xmlns:r="http://schemas.openxmlformats.org/officeDocument/2006/relationships" id="283" r:id="R9043181a98124db5"/>
    <p:sldId xmlns:r="http://schemas.openxmlformats.org/officeDocument/2006/relationships" id="284" r:id="Re9ce9a0cfcea4cc9"/>
    <p:sldId xmlns:r="http://schemas.openxmlformats.org/officeDocument/2006/relationships" id="285" r:id="R8dd685a33f1744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d57ca6ef1e4b2e" /><Relationship Type="http://schemas.openxmlformats.org/officeDocument/2006/relationships/slideMaster" Target="/ppt/slideMasters/slideMaster1.xml" Id="Rb6fca58e42a14e85" /><Relationship Type="http://schemas.openxmlformats.org/officeDocument/2006/relationships/notesMaster" Target="/ppt/notesMasters/notesMaster1.xml" Id="Rd7a7cbe9cb6d4b63" /><Relationship Type="http://schemas.openxmlformats.org/officeDocument/2006/relationships/presProps" Target="/ppt/presProps.xml" Id="R883af75b95954ea6" /><Relationship Type="http://schemas.openxmlformats.org/officeDocument/2006/relationships/viewProps" Target="/ppt/viewProps.xml" Id="Ree71b1daa5a24ac2" /><Relationship Type="http://schemas.openxmlformats.org/officeDocument/2006/relationships/tableStyles" Target="/ppt/tableStyles.xml" Id="Racf89b8784a94e33" /><Relationship Type="http://schemas.openxmlformats.org/officeDocument/2006/relationships/slide" Target="/ppt/slides/slide1.xml" Id="R08e6dffe3cbe4785" /><Relationship Type="http://schemas.openxmlformats.org/officeDocument/2006/relationships/slide" Target="/ppt/slides/slide2.xml" Id="R3bd9f3263ff245c9" /><Relationship Type="http://schemas.openxmlformats.org/officeDocument/2006/relationships/slide" Target="/ppt/slides/slide3.xml" Id="R93b6bbc47867477a" /><Relationship Type="http://schemas.openxmlformats.org/officeDocument/2006/relationships/slide" Target="/ppt/slides/slide4.xml" Id="Rd175da16c94c4e13" /><Relationship Type="http://schemas.openxmlformats.org/officeDocument/2006/relationships/slide" Target="/ppt/slides/slide5.xml" Id="R77b46c12aa864791" /><Relationship Type="http://schemas.openxmlformats.org/officeDocument/2006/relationships/slide" Target="/ppt/slides/slide6.xml" Id="R0a563789a3dd4494" /><Relationship Type="http://schemas.openxmlformats.org/officeDocument/2006/relationships/slide" Target="/ppt/slides/slide7.xml" Id="R258f4fe87bf54be0" /><Relationship Type="http://schemas.openxmlformats.org/officeDocument/2006/relationships/slide" Target="/ppt/slides/slide8.xml" Id="Ref84666d7c324356" /><Relationship Type="http://schemas.openxmlformats.org/officeDocument/2006/relationships/slide" Target="/ppt/slides/slide9.xml" Id="R8f433c023c794771" /><Relationship Type="http://schemas.openxmlformats.org/officeDocument/2006/relationships/slide" Target="/ppt/slides/slide10.xml" Id="R6b2889e7c27b4b16" /><Relationship Type="http://schemas.openxmlformats.org/officeDocument/2006/relationships/slide" Target="/ppt/slides/slide11.xml" Id="R0c40e165de2245fa" /><Relationship Type="http://schemas.openxmlformats.org/officeDocument/2006/relationships/slide" Target="/ppt/slides/slide12.xml" Id="Rfc9a975d40144310" /><Relationship Type="http://schemas.openxmlformats.org/officeDocument/2006/relationships/slide" Target="/ppt/slides/slide13.xml" Id="R4f7b223066524011" /><Relationship Type="http://schemas.openxmlformats.org/officeDocument/2006/relationships/slide" Target="/ppt/slides/slide14.xml" Id="R02acf8c2594348f3" /><Relationship Type="http://schemas.openxmlformats.org/officeDocument/2006/relationships/slide" Target="/ppt/slides/slide15.xml" Id="Ra5ad5425f89e46d8" /><Relationship Type="http://schemas.openxmlformats.org/officeDocument/2006/relationships/slide" Target="/ppt/slides/slide16.xml" Id="R34bd596a4784468f" /><Relationship Type="http://schemas.openxmlformats.org/officeDocument/2006/relationships/slide" Target="/ppt/slides/slide17.xml" Id="R53304f496e5b4eb5" /><Relationship Type="http://schemas.openxmlformats.org/officeDocument/2006/relationships/slide" Target="/ppt/slides/slide18.xml" Id="R638ab6543b0d4896" /><Relationship Type="http://schemas.openxmlformats.org/officeDocument/2006/relationships/slide" Target="/ppt/slides/slide19.xml" Id="R9e6602bdd76b4052" /><Relationship Type="http://schemas.openxmlformats.org/officeDocument/2006/relationships/slide" Target="/ppt/slides/slide20.xml" Id="Rff31e3dbdac043b9" /><Relationship Type="http://schemas.openxmlformats.org/officeDocument/2006/relationships/slide" Target="/ppt/slides/slide21.xml" Id="R3ba892e9b03b4ace" /><Relationship Type="http://schemas.openxmlformats.org/officeDocument/2006/relationships/slide" Target="/ppt/slides/slide22.xml" Id="R3b631a8e74e94190" /><Relationship Type="http://schemas.openxmlformats.org/officeDocument/2006/relationships/slide" Target="/ppt/slides/slide23.xml" Id="Rb5be1073e6d9448b" /><Relationship Type="http://schemas.openxmlformats.org/officeDocument/2006/relationships/slide" Target="/ppt/slides/slide24.xml" Id="R6e0504ab071047cd" /><Relationship Type="http://schemas.openxmlformats.org/officeDocument/2006/relationships/slide" Target="/ppt/slides/slide25.xml" Id="R041152ce89214dd1" /><Relationship Type="http://schemas.openxmlformats.org/officeDocument/2006/relationships/slide" Target="/ppt/slides/slide26.xml" Id="R5101198492f44976" /><Relationship Type="http://schemas.openxmlformats.org/officeDocument/2006/relationships/slide" Target="/ppt/slides/slide27.xml" Id="Re8059b44e005467b" /><Relationship Type="http://schemas.openxmlformats.org/officeDocument/2006/relationships/slide" Target="/ppt/slides/slide28.xml" Id="R9043181a98124db5" /><Relationship Type="http://schemas.openxmlformats.org/officeDocument/2006/relationships/slide" Target="/ppt/slides/slide29.xml" Id="Re9ce9a0cfcea4cc9" /><Relationship Type="http://schemas.openxmlformats.org/officeDocument/2006/relationships/slide" Target="/ppt/slides/slide30.xml" Id="R8dd685a33f1744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f1bb869b6b4a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6cf58af17a4e88" /><Relationship Type="http://schemas.openxmlformats.org/officeDocument/2006/relationships/notesMaster" Target="/ppt/notesMasters/notesMaster1.xml" Id="Rde064b3087ea4b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3e3d877a014c52" /><Relationship Type="http://schemas.openxmlformats.org/officeDocument/2006/relationships/notesMaster" Target="/ppt/notesMasters/notesMaster1.xml" Id="R6a1b1c03aace4e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93a8611fc64bfa" /><Relationship Type="http://schemas.openxmlformats.org/officeDocument/2006/relationships/notesMaster" Target="/ppt/notesMasters/notesMaster1.xml" Id="Rf9b26cb8904142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794d3e8ee44ee4" /><Relationship Type="http://schemas.openxmlformats.org/officeDocument/2006/relationships/notesMaster" Target="/ppt/notesMasters/notesMaster1.xml" Id="R69863146458145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3498792c824be8" /><Relationship Type="http://schemas.openxmlformats.org/officeDocument/2006/relationships/notesMaster" Target="/ppt/notesMasters/notesMaster1.xml" Id="R7611dc01c4844c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c8f11cf54140a6" /><Relationship Type="http://schemas.openxmlformats.org/officeDocument/2006/relationships/notesMaster" Target="/ppt/notesMasters/notesMaster1.xml" Id="R929bc9b87a3541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b2cf708ce94f1d" /><Relationship Type="http://schemas.openxmlformats.org/officeDocument/2006/relationships/notesMaster" Target="/ppt/notesMasters/notesMaster1.xml" Id="R9e99f1d0d63b41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f0f830c9a4302" /><Relationship Type="http://schemas.openxmlformats.org/officeDocument/2006/relationships/notesMaster" Target="/ppt/notesMasters/notesMaster1.xml" Id="R58fa855a54bc41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e37b4e08b04322" /><Relationship Type="http://schemas.openxmlformats.org/officeDocument/2006/relationships/notesMaster" Target="/ppt/notesMasters/notesMaster1.xml" Id="R0b4c8f15a16f41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7560cca3b04b58" /><Relationship Type="http://schemas.openxmlformats.org/officeDocument/2006/relationships/notesMaster" Target="/ppt/notesMasters/notesMaster1.xml" Id="Rcf569a65666846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38b8cd73b14ae1" /><Relationship Type="http://schemas.openxmlformats.org/officeDocument/2006/relationships/notesMaster" Target="/ppt/notesMasters/notesMaster1.xml" Id="R750cc3bfb1f34e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6d551b38e34be6" /><Relationship Type="http://schemas.openxmlformats.org/officeDocument/2006/relationships/notesMaster" Target="/ppt/notesMasters/notesMaster1.xml" Id="Rff7c70b853c44d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dbc7c62f5a443f" /><Relationship Type="http://schemas.openxmlformats.org/officeDocument/2006/relationships/notesMaster" Target="/ppt/notesMasters/notesMaster1.xml" Id="Rb3a0bf217cee4e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0e27a6c1c0434a" /><Relationship Type="http://schemas.openxmlformats.org/officeDocument/2006/relationships/notesMaster" Target="/ppt/notesMasters/notesMaster1.xml" Id="R09da37374a8e48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e53c2055434d1a" /><Relationship Type="http://schemas.openxmlformats.org/officeDocument/2006/relationships/notesMaster" Target="/ppt/notesMasters/notesMaster1.xml" Id="R39912a53fe6a4a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5c7da0ea4c4c6c" /><Relationship Type="http://schemas.openxmlformats.org/officeDocument/2006/relationships/notesMaster" Target="/ppt/notesMasters/notesMaster1.xml" Id="R56ab34648ce445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16cebfa2e14f08" /><Relationship Type="http://schemas.openxmlformats.org/officeDocument/2006/relationships/notesMaster" Target="/ppt/notesMasters/notesMaster1.xml" Id="Rcaa627c09f0048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193d0035bd4cec" /><Relationship Type="http://schemas.openxmlformats.org/officeDocument/2006/relationships/notesMaster" Target="/ppt/notesMasters/notesMaster1.xml" Id="Re59cc48c3f25452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f96ecaf9f54a4a" /><Relationship Type="http://schemas.openxmlformats.org/officeDocument/2006/relationships/notesMaster" Target="/ppt/notesMasters/notesMaster1.xml" Id="R56d3eda08d5c4d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774244eb984011" /><Relationship Type="http://schemas.openxmlformats.org/officeDocument/2006/relationships/notesMaster" Target="/ppt/notesMasters/notesMaster1.xml" Id="R36737b74cda74a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f645f5e84e48a4" /><Relationship Type="http://schemas.openxmlformats.org/officeDocument/2006/relationships/notesMaster" Target="/ppt/notesMasters/notesMaster1.xml" Id="R2f9cc4fea8cb43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490bd5b69a048dd" /><Relationship Type="http://schemas.openxmlformats.org/officeDocument/2006/relationships/notesMaster" Target="/ppt/notesMasters/notesMaster1.xml" Id="R35341cbc24714d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b208471ab5147bb" /><Relationship Type="http://schemas.openxmlformats.org/officeDocument/2006/relationships/notesMaster" Target="/ppt/notesMasters/notesMaster1.xml" Id="Raed2f76eb5b84c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c546d6b4a2412f" /><Relationship Type="http://schemas.openxmlformats.org/officeDocument/2006/relationships/notesMaster" Target="/ppt/notesMasters/notesMaster1.xml" Id="R7bff35100b7a434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458397e2f39452e" /><Relationship Type="http://schemas.openxmlformats.org/officeDocument/2006/relationships/notesMaster" Target="/ppt/notesMasters/notesMaster1.xml" Id="Raa78db85342e466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61880538c964930" /><Relationship Type="http://schemas.openxmlformats.org/officeDocument/2006/relationships/notesMaster" Target="/ppt/notesMasters/notesMaster1.xml" Id="R65818a48f01e48a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cc64f5d1f7f44cb" /><Relationship Type="http://schemas.openxmlformats.org/officeDocument/2006/relationships/notesMaster" Target="/ppt/notesMasters/notesMaster1.xml" Id="R7d631929486b46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e975c31bd65413d" /><Relationship Type="http://schemas.openxmlformats.org/officeDocument/2006/relationships/notesMaster" Target="/ppt/notesMasters/notesMaster1.xml" Id="Raeb2430cd9f9499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bfe187c11994010" /><Relationship Type="http://schemas.openxmlformats.org/officeDocument/2006/relationships/notesMaster" Target="/ppt/notesMasters/notesMaster1.xml" Id="Rcba1e1a28f97426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317013162fc4dcf" /><Relationship Type="http://schemas.openxmlformats.org/officeDocument/2006/relationships/notesMaster" Target="/ppt/notesMasters/notesMaster1.xml" Id="Ra6403f154a5c42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e36d5f9a04b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af1187153b4974" /><Relationship Type="http://schemas.openxmlformats.org/officeDocument/2006/relationships/slideLayout" Target="/ppt/slideLayouts/slideLayout1.xml" Id="R26c133266df948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c133266df948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cd67b745841f7" /><Relationship Type="http://schemas.openxmlformats.org/officeDocument/2006/relationships/image" Target="/ppt/media/image.png" Id="R51e7356b8e144899" /><Relationship Type="http://schemas.openxmlformats.org/officeDocument/2006/relationships/image" Target="/ppt/media/image.svg" Id="R6ebfdcd0a71c41f0" /><Relationship Type="http://schemas.openxmlformats.org/officeDocument/2006/relationships/image" Target="/ppt/media/image2.png" Id="Rfc9ed82ae3a84d5b" /><Relationship Type="http://schemas.openxmlformats.org/officeDocument/2006/relationships/image" Target="/ppt/media/image2.svg" Id="R295d99a711564dea" /><Relationship Type="http://schemas.openxmlformats.org/officeDocument/2006/relationships/image" Target="/ppt/media/image3.png" Id="R3b013b8402bf4c00" /><Relationship Type="http://schemas.openxmlformats.org/officeDocument/2006/relationships/image" Target="/ppt/media/image3.svg" Id="R034f1c907d1c4aec" /><Relationship Type="http://schemas.openxmlformats.org/officeDocument/2006/relationships/notesSlide" Target="/ppt/notesSlides/notesSlide1.xml" Id="Re84cce33aa294b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3ff753a2e4ebf" /><Relationship Type="http://schemas.openxmlformats.org/officeDocument/2006/relationships/notesSlide" Target="/ppt/notesSlides/notesSlide2.xml" Id="Rd605571d56fa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5d896bb014af6" /><Relationship Type="http://schemas.openxmlformats.org/officeDocument/2006/relationships/notesSlide" Target="/ppt/notesSlides/notesSlide3.xml" Id="R0661039492ff4f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685d4e9d24260" /><Relationship Type="http://schemas.openxmlformats.org/officeDocument/2006/relationships/notesSlide" Target="/ppt/notesSlides/notesSlide4.xml" Id="Ra2c4967dfbf346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b9f5f1f524de4" /><Relationship Type="http://schemas.openxmlformats.org/officeDocument/2006/relationships/notesSlide" Target="/ppt/notesSlides/notesSlide5.xml" Id="R11f6292de77f49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6ac9932cd4068" /><Relationship Type="http://schemas.openxmlformats.org/officeDocument/2006/relationships/image" Target="/ppt/media/image4.png" Id="R9229c0998bb64294" /><Relationship Type="http://schemas.openxmlformats.org/officeDocument/2006/relationships/image" Target="/ppt/media/image4.svg" Id="R9ae7da5f3b2f4f86" /><Relationship Type="http://schemas.openxmlformats.org/officeDocument/2006/relationships/image" Target="/ppt/media/image5.png" Id="R806f51df661b4a2b" /><Relationship Type="http://schemas.openxmlformats.org/officeDocument/2006/relationships/image" Target="/ppt/media/image5.svg" Id="R60578510e4c5482b" /><Relationship Type="http://schemas.openxmlformats.org/officeDocument/2006/relationships/image" Target="/ppt/media/image6.png" Id="R68a000d1d3294dd9" /><Relationship Type="http://schemas.openxmlformats.org/officeDocument/2006/relationships/image" Target="/ppt/media/image6.svg" Id="Rebb7509bda9b443c" /><Relationship Type="http://schemas.openxmlformats.org/officeDocument/2006/relationships/image" Target="/ppt/media/image7.png" Id="R7fc7531f0bc748db" /><Relationship Type="http://schemas.openxmlformats.org/officeDocument/2006/relationships/image" Target="/ppt/media/image7.svg" Id="R61142f0ce011462a" /><Relationship Type="http://schemas.openxmlformats.org/officeDocument/2006/relationships/image" Target="/ppt/media/image8.png" Id="Re962586a458840e9" /><Relationship Type="http://schemas.openxmlformats.org/officeDocument/2006/relationships/image" Target="/ppt/media/image8.svg" Id="Rc8951e10dc494098" /><Relationship Type="http://schemas.openxmlformats.org/officeDocument/2006/relationships/image" Target="/ppt/media/image9.png" Id="R78fb624ee00c408f" /><Relationship Type="http://schemas.openxmlformats.org/officeDocument/2006/relationships/image" Target="/ppt/media/image9.svg" Id="R7926cc6b70d04667" /><Relationship Type="http://schemas.openxmlformats.org/officeDocument/2006/relationships/notesSlide" Target="/ppt/notesSlides/notesSlide6.xml" Id="Rb8f852357cd94e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d7dec910d4521" /><Relationship Type="http://schemas.openxmlformats.org/officeDocument/2006/relationships/notesSlide" Target="/ppt/notesSlides/notesSlide7.xml" Id="Rd0e0f391709e46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5646294484f93" /><Relationship Type="http://schemas.openxmlformats.org/officeDocument/2006/relationships/notesSlide" Target="/ppt/notesSlides/notesSlide8.xml" Id="R122a8c634e024a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982527e9e4bf7" /><Relationship Type="http://schemas.openxmlformats.org/officeDocument/2006/relationships/notesSlide" Target="/ppt/notesSlides/notesSlide9.xml" Id="R6292e5cca2ca4c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062aa870b489c" /><Relationship Type="http://schemas.openxmlformats.org/officeDocument/2006/relationships/image" Target="/ppt/media/image10.png" Id="Rb6521bc0648242ad" /><Relationship Type="http://schemas.openxmlformats.org/officeDocument/2006/relationships/image" Target="/ppt/media/image10.svg" Id="R9fba7a01a2584d86" /><Relationship Type="http://schemas.openxmlformats.org/officeDocument/2006/relationships/image" Target="/ppt/media/image11.png" Id="Rcbd4310414cb4e98" /><Relationship Type="http://schemas.openxmlformats.org/officeDocument/2006/relationships/image" Target="/ppt/media/image11.svg" Id="Rc50d6172050a4cd4" /><Relationship Type="http://schemas.openxmlformats.org/officeDocument/2006/relationships/image" Target="/ppt/media/image12.png" Id="R5f265afa464a4404" /><Relationship Type="http://schemas.openxmlformats.org/officeDocument/2006/relationships/image" Target="/ppt/media/image12.svg" Id="R60fb2d1a31b940ca" /><Relationship Type="http://schemas.openxmlformats.org/officeDocument/2006/relationships/image" Target="/ppt/media/image13.png" Id="R4b5abe6816634004" /><Relationship Type="http://schemas.openxmlformats.org/officeDocument/2006/relationships/image" Target="/ppt/media/image13.svg" Id="R085eea2f34c84bb3" /><Relationship Type="http://schemas.openxmlformats.org/officeDocument/2006/relationships/notesSlide" Target="/ppt/notesSlides/notesSlide10.xml" Id="R352d0da220c146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605c9e71b44b1" /><Relationship Type="http://schemas.openxmlformats.org/officeDocument/2006/relationships/notesSlide" Target="/ppt/notesSlides/notesSlide11.xml" Id="Rf2f2ecb8072144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738306d0c489c" /><Relationship Type="http://schemas.openxmlformats.org/officeDocument/2006/relationships/notesSlide" Target="/ppt/notesSlides/notesSlide12.xml" Id="R4295d11058b042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9040a721f4ddc" /><Relationship Type="http://schemas.openxmlformats.org/officeDocument/2006/relationships/notesSlide" Target="/ppt/notesSlides/notesSlide13.xml" Id="R86595e0cfcf443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c9f47e3c34424" /><Relationship Type="http://schemas.openxmlformats.org/officeDocument/2006/relationships/notesSlide" Target="/ppt/notesSlides/notesSlide14.xml" Id="R85ae57a957984b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93f7aa2154663" /><Relationship Type="http://schemas.openxmlformats.org/officeDocument/2006/relationships/notesSlide" Target="/ppt/notesSlides/notesSlide15.xml" Id="Raf1abebad6524d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6191d5a96411e" /><Relationship Type="http://schemas.openxmlformats.org/officeDocument/2006/relationships/image" Target="/ppt/media/image14.png" Id="R1e5146ad17e14df6" /><Relationship Type="http://schemas.openxmlformats.org/officeDocument/2006/relationships/image" Target="/ppt/media/image14.svg" Id="R11ef11fcb55d478c" /><Relationship Type="http://schemas.openxmlformats.org/officeDocument/2006/relationships/image" Target="/ppt/media/image15.png" Id="Rce5cba498a1e452f" /><Relationship Type="http://schemas.openxmlformats.org/officeDocument/2006/relationships/image" Target="/ppt/media/image15.svg" Id="R1d9e9cf787ab41fd" /><Relationship Type="http://schemas.openxmlformats.org/officeDocument/2006/relationships/image" Target="/ppt/media/image16.png" Id="R3c0b0e81fa4d4ba1" /><Relationship Type="http://schemas.openxmlformats.org/officeDocument/2006/relationships/image" Target="/ppt/media/image16.svg" Id="R3e61d9892c984bb7" /><Relationship Type="http://schemas.openxmlformats.org/officeDocument/2006/relationships/image" Target="/ppt/media/image17.png" Id="Ra4e6252c46cc47ce" /><Relationship Type="http://schemas.openxmlformats.org/officeDocument/2006/relationships/image" Target="/ppt/media/image17.svg" Id="R3aba728bbeb04f80" /><Relationship Type="http://schemas.openxmlformats.org/officeDocument/2006/relationships/notesSlide" Target="/ppt/notesSlides/notesSlide16.xml" Id="Rcd1a26bae6934d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14e4ab59c4221" /><Relationship Type="http://schemas.openxmlformats.org/officeDocument/2006/relationships/notesSlide" Target="/ppt/notesSlides/notesSlide17.xml" Id="Rb5a3a6bd1da747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3f5617034461f" /><Relationship Type="http://schemas.openxmlformats.org/officeDocument/2006/relationships/image" Target="/ppt/media/image18.png" Id="Rd0b1f5486a62413a" /><Relationship Type="http://schemas.openxmlformats.org/officeDocument/2006/relationships/image" Target="/ppt/media/image18.svg" Id="R876fb92114ce4797" /><Relationship Type="http://schemas.openxmlformats.org/officeDocument/2006/relationships/image" Target="/ppt/media/image19.png" Id="R0843cd27f5af48dd" /><Relationship Type="http://schemas.openxmlformats.org/officeDocument/2006/relationships/image" Target="/ppt/media/image19.svg" Id="Rfb08330f4d974a52" /><Relationship Type="http://schemas.openxmlformats.org/officeDocument/2006/relationships/image" Target="/ppt/media/image20.png" Id="R52e508185d0f4e34" /><Relationship Type="http://schemas.openxmlformats.org/officeDocument/2006/relationships/image" Target="/ppt/media/image20.svg" Id="R30a6d3a7fcbf494e" /><Relationship Type="http://schemas.openxmlformats.org/officeDocument/2006/relationships/image" Target="/ppt/media/image21.png" Id="Re2d22f2ef8e74c24" /><Relationship Type="http://schemas.openxmlformats.org/officeDocument/2006/relationships/image" Target="/ppt/media/image21.svg" Id="R477751d6cfd6482a" /><Relationship Type="http://schemas.openxmlformats.org/officeDocument/2006/relationships/image" Target="/ppt/media/image22.png" Id="Refbd95ffe3ce4bcb" /><Relationship Type="http://schemas.openxmlformats.org/officeDocument/2006/relationships/image" Target="/ppt/media/image22.svg" Id="R9b4ea532b8d34e2d" /><Relationship Type="http://schemas.openxmlformats.org/officeDocument/2006/relationships/notesSlide" Target="/ppt/notesSlides/notesSlide18.xml" Id="Refaf5fe88ad148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19a19956942bf" /><Relationship Type="http://schemas.openxmlformats.org/officeDocument/2006/relationships/image" Target="/ppt/media/image23.png" Id="R9b5633936a0e4375" /><Relationship Type="http://schemas.openxmlformats.org/officeDocument/2006/relationships/image" Target="/ppt/media/image23.svg" Id="Ra458cb0842614b87" /><Relationship Type="http://schemas.openxmlformats.org/officeDocument/2006/relationships/image" Target="/ppt/media/image24.png" Id="Re6e9e6b57c0b4bb1" /><Relationship Type="http://schemas.openxmlformats.org/officeDocument/2006/relationships/image" Target="/ppt/media/image24.svg" Id="Re328c2fd96554576" /><Relationship Type="http://schemas.openxmlformats.org/officeDocument/2006/relationships/image" Target="/ppt/media/image25.png" Id="Rfda22f54c78346de" /><Relationship Type="http://schemas.openxmlformats.org/officeDocument/2006/relationships/image" Target="/ppt/media/image25.svg" Id="Ra5c2cc497b7c40df" /><Relationship Type="http://schemas.openxmlformats.org/officeDocument/2006/relationships/image" Target="/ppt/media/image26.png" Id="R4ac6bff119784963" /><Relationship Type="http://schemas.openxmlformats.org/officeDocument/2006/relationships/image" Target="/ppt/media/image26.svg" Id="Rd74d4f6e0b9f4e06" /><Relationship Type="http://schemas.openxmlformats.org/officeDocument/2006/relationships/notesSlide" Target="/ppt/notesSlides/notesSlide19.xml" Id="R75077bd9335847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489e8e4034ac9" /><Relationship Type="http://schemas.openxmlformats.org/officeDocument/2006/relationships/image" Target="/ppt/media/image27.png" Id="Rad7d8958d9fb4957" /><Relationship Type="http://schemas.openxmlformats.org/officeDocument/2006/relationships/image" Target="/ppt/media/image27.svg" Id="R796bc90135404cc0" /><Relationship Type="http://schemas.openxmlformats.org/officeDocument/2006/relationships/image" Target="/ppt/media/image28.png" Id="Rf8194853f7424040" /><Relationship Type="http://schemas.openxmlformats.org/officeDocument/2006/relationships/image" Target="/ppt/media/image28.svg" Id="Rdb09246f9e064653" /><Relationship Type="http://schemas.openxmlformats.org/officeDocument/2006/relationships/notesSlide" Target="/ppt/notesSlides/notesSlide20.xml" Id="R334126859c834a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a605c696b4420" /><Relationship Type="http://schemas.openxmlformats.org/officeDocument/2006/relationships/notesSlide" Target="/ppt/notesSlides/notesSlide21.xml" Id="R75792ea3a05644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dcd134209469d" /><Relationship Type="http://schemas.openxmlformats.org/officeDocument/2006/relationships/notesSlide" Target="/ppt/notesSlides/notesSlide22.xml" Id="Rf0944146153749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158f94ce84066" /><Relationship Type="http://schemas.openxmlformats.org/officeDocument/2006/relationships/notesSlide" Target="/ppt/notesSlides/notesSlide23.xml" Id="R45678018bf9840d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49a8f4b154204" /><Relationship Type="http://schemas.openxmlformats.org/officeDocument/2006/relationships/notesSlide" Target="/ppt/notesSlides/notesSlide24.xml" Id="R7583a28bceed4c6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e4dc724504df5" /><Relationship Type="http://schemas.openxmlformats.org/officeDocument/2006/relationships/notesSlide" Target="/ppt/notesSlides/notesSlide25.xml" Id="R92653c45ca0147a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bb842ff524ea3" /><Relationship Type="http://schemas.openxmlformats.org/officeDocument/2006/relationships/notesSlide" Target="/ppt/notesSlides/notesSlide26.xml" Id="Ra759ba23285f48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85c1fa7bd48dc" /><Relationship Type="http://schemas.openxmlformats.org/officeDocument/2006/relationships/image" Target="/ppt/media/image29.png" Id="R33e911c7ec0445ac" /><Relationship Type="http://schemas.openxmlformats.org/officeDocument/2006/relationships/image" Target="/ppt/media/image29.svg" Id="Rdf904d99bfdf4328" /><Relationship Type="http://schemas.openxmlformats.org/officeDocument/2006/relationships/image" Target="/ppt/media/image30.png" Id="R7087fec83ed3460f" /><Relationship Type="http://schemas.openxmlformats.org/officeDocument/2006/relationships/image" Target="/ppt/media/image30.svg" Id="R0978d27d37144664" /><Relationship Type="http://schemas.openxmlformats.org/officeDocument/2006/relationships/image" Target="/ppt/media/image31.png" Id="Rfa8a970f145d48d6" /><Relationship Type="http://schemas.openxmlformats.org/officeDocument/2006/relationships/image" Target="/ppt/media/image31.svg" Id="R9948502fca28465e" /><Relationship Type="http://schemas.openxmlformats.org/officeDocument/2006/relationships/image" Target="/ppt/media/image32.png" Id="Rc10f5e9ba52e4e95" /><Relationship Type="http://schemas.openxmlformats.org/officeDocument/2006/relationships/image" Target="/ppt/media/image32.svg" Id="R2a61e9addf9d4a7b" /><Relationship Type="http://schemas.openxmlformats.org/officeDocument/2006/relationships/image" Target="/ppt/media/image33.png" Id="R3e388f07ffb2462f" /><Relationship Type="http://schemas.openxmlformats.org/officeDocument/2006/relationships/image" Target="/ppt/media/image33.svg" Id="R62258b1bca6841ec" /><Relationship Type="http://schemas.openxmlformats.org/officeDocument/2006/relationships/image" Target="/ppt/media/image34.png" Id="R6ed8ba8304dd43ab" /><Relationship Type="http://schemas.openxmlformats.org/officeDocument/2006/relationships/image" Target="/ppt/media/image34.svg" Id="Ree47720f7fe045e4" /><Relationship Type="http://schemas.openxmlformats.org/officeDocument/2006/relationships/notesSlide" Target="/ppt/notesSlides/notesSlide27.xml" Id="Re1663341c1744e8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934b0a93342af" /><Relationship Type="http://schemas.openxmlformats.org/officeDocument/2006/relationships/image" Target="/ppt/media/image35.png" Id="R13e3d0c2d68c4689" /><Relationship Type="http://schemas.openxmlformats.org/officeDocument/2006/relationships/image" Target="/ppt/media/image35.svg" Id="R1af6aea39f2b43cc" /><Relationship Type="http://schemas.openxmlformats.org/officeDocument/2006/relationships/image" Target="/ppt/media/image36.png" Id="R90fd15ffbd2743b1" /><Relationship Type="http://schemas.openxmlformats.org/officeDocument/2006/relationships/image" Target="/ppt/media/image36.svg" Id="R98c0f22893fe40cc" /><Relationship Type="http://schemas.openxmlformats.org/officeDocument/2006/relationships/image" Target="/ppt/media/image37.png" Id="R4cb9748dab3144b3" /><Relationship Type="http://schemas.openxmlformats.org/officeDocument/2006/relationships/image" Target="/ppt/media/image37.svg" Id="R559793be0d5549e3" /><Relationship Type="http://schemas.openxmlformats.org/officeDocument/2006/relationships/image" Target="/ppt/media/image38.png" Id="R6a1dcf92a3774f3e" /><Relationship Type="http://schemas.openxmlformats.org/officeDocument/2006/relationships/image" Target="/ppt/media/image38.svg" Id="R45dc0e988de8417e" /><Relationship Type="http://schemas.openxmlformats.org/officeDocument/2006/relationships/image" Target="/ppt/media/image39.png" Id="R2e9fb58c29fe453a" /><Relationship Type="http://schemas.openxmlformats.org/officeDocument/2006/relationships/image" Target="/ppt/media/image39.svg" Id="R5132167984414dfd" /><Relationship Type="http://schemas.openxmlformats.org/officeDocument/2006/relationships/notesSlide" Target="/ppt/notesSlides/notesSlide28.xml" Id="R1300d94a57df4fa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b1afda59b4ff1" /><Relationship Type="http://schemas.openxmlformats.org/officeDocument/2006/relationships/notesSlide" Target="/ppt/notesSlides/notesSlide29.xml" Id="Rb0925dc7d5bc404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d2ccf20994be2" /><Relationship Type="http://schemas.openxmlformats.org/officeDocument/2006/relationships/notesSlide" Target="/ppt/notesSlides/notesSlide30.xml" Id="R181a480cecde43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4A1FF99-1980-4EBD-8D6B-2A43F00B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B083FA6-3250-4F88-BD1A-A174927C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1C730-FAFB-434C-A13F-8BB38AE0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B3B0B9-2C71-4DAF-81F9-870E592F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0EAF5F-C3AB-4BD3-9D76-9133153E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D2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7D2E2"/>
                </a:solidFill>
                <a:latin typeface="Apple SD Gothic Neo"/>
                <a:ea typeface="Apple SD Gothic Neo"/>
                <a:cs typeface="Apple SD Gothic Neo"/>
              </a:rPr>
              <a:t>LECTURE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F253D-53CE-4B5B-A571-7A2E03F4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클라우드 스토리지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6BED6-A6DB-457C-8BDE-58B42CE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742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8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D8E9FF"/>
                </a:solidFill>
                <a:latin typeface="Apple SD Gothic Neo"/>
                <a:ea typeface="Apple SD Gothic Neo"/>
                <a:cs typeface="Apple SD Gothic Neo"/>
              </a:rPr>
              <a:t>파일을 올리는 서비스에서</a:t>
            </a:r>
          </a:p>
          <a:p xmlns:a="http://schemas.openxmlformats.org/drawingml/2006/main">
            <a:pPr algn="l">
              <a:defRPr sz="2850" b="1">
                <a:solidFill>
                  <a:srgbClr val="D8E9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D8E9FF"/>
                </a:solidFill>
                <a:latin typeface="Apple SD Gothic Neo"/>
                <a:ea typeface="Apple SD Gothic Neo"/>
                <a:cs typeface="Apple SD Gothic Neo"/>
              </a:rPr>
              <a:t>데이터 플랫폼으로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9B6F8-B6AB-49FF-9E4A-D3E68870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2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C7D2E2"/>
                </a:solidFill>
                <a:latin typeface="Apple SD Gothic Neo"/>
                <a:ea typeface="Apple SD Gothic Neo"/>
                <a:cs typeface="Apple SD Gothic Neo"/>
              </a:rPr>
              <a:t>컴공 학생을 위한 2시간 강연 | 쉬운 개념에서 실무 설계까지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7356b8e144899">
            <a:extLst>
              <a:ext uri="{96DAC541-7B7A-43D3-8B79-37D633B846F1}">
                <asvg:svgBlip xmlns:asvg="http://schemas.microsoft.com/office/drawing/2016/SVG/main" r:embed="R6ebfdcd0a71c41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48750" y="1066800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ed82ae3a84d5b">
            <a:extLst>
              <a:ext uri="{96DAC541-7B7A-43D3-8B79-37D633B846F1}">
                <asvg:svgBlip xmlns:asvg="http://schemas.microsoft.com/office/drawing/2016/SVG/main" r:embed="R295d99a711564d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67900" y="2000250"/>
            <a:ext cx="819150" cy="8191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13b8402bf4c00">
            <a:extLst>
              <a:ext uri="{96DAC541-7B7A-43D3-8B79-37D633B846F1}">
                <asvg:svgBlip xmlns:asvg="http://schemas.microsoft.com/office/drawing/2016/SVG/main" r:embed="R034f1c907d1c4a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43950" y="283845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4447A-BD3A-4531-A967-45589B31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90103-CD03-469C-B1A9-1849FDE2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F1DEA-2B77-43CF-A92D-C5E729D7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29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F65A9-6B40-4CF5-9C39-9D99512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0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C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8B8CA"/>
                </a:solidFill>
                <a:latin typeface="Menlo"/>
                <a:ea typeface="Menlo"/>
                <a:cs typeface="Menlo"/>
              </a:rPr>
              <a:t>object / block / 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CA47F-581C-43BA-86D4-4F43DE11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B9D8A-4B1B-4AC3-996C-353C49E3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61ED9-42B0-4CE5-A60A-E9E242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29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8A482-20CC-457A-8EBB-1CFA45F5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10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C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8B8CA"/>
                </a:solidFill>
                <a:latin typeface="Menlo"/>
                <a:ea typeface="Menlo"/>
                <a:cs typeface="Menlo"/>
              </a:rPr>
              <a:t>upload / event / CDN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1EAB1-9C62-4B02-8D6E-846319F8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149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66B06-40E4-47A1-9AB2-AD839172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4830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51DB8-5CDA-495A-885C-6D8BAADE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292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55F3B-1FC0-4F24-8529-169EC67E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10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8C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A8B8CA"/>
                </a:solidFill>
                <a:latin typeface="Menlo"/>
                <a:ea typeface="Menlo"/>
                <a:cs typeface="Menlo"/>
              </a:rPr>
              <a:t>security / cost / 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72BC9-A169-47E4-9062-B1485DB7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FA2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8FA2B8"/>
                </a:solidFill>
                <a:latin typeface="Apple SD Gothic Neo"/>
                <a:ea typeface="Apple SD Gothic Neo"/>
                <a:cs typeface="Apple SD Gothic Neo"/>
              </a:rPr>
              <a:t>AWS S3 User Guide; Azure Blob Storage; Google Cloud Storage docs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868268-B6E2-4249-88B7-BBD1AB63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7D2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7D2E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10371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945DA65-0A57-4991-BD1B-E8A50433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2069E9-317D-4DFC-BEFB-7677F1E9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74C7C3EB-1DA4-40E9-AB85-D2E75E56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E93DA0D-9747-42F6-89FB-B551F48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99DFED-F153-4AA6-89E1-1F401438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06D06-DE39-47EC-B8BD-135E6C00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2시간은 개념에서 운영까지 한 번에 이어진다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7FEC6-8E18-401E-8F99-B80A674A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초반은 쉬운 모델, 후반은 신입 엔지니어가 설계 리뷰에서 듣는 질문으로 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1935C-D5C7-4505-A195-18DDE096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Author synthesis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6EAB8-C7D3-43F7-A611-A2135673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29289-2799-4D15-ACCD-108240FD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DAFF4-38DE-4C55-82DC-DB73B9EF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B767C-2E98-4CFB-A875-CA111645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06FFE-5BFF-4FB6-8550-B9E8858F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76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0-20분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06724-91BB-4071-B470-3071271A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3143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저장소의 기본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B014E-B9DC-405A-825A-D9CAC21A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764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block / file / object를 구분하고 객체 스토리지를 key-value로 이해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6027B-5B52-453E-BFB3-56ADA1BF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C04D0-905D-47EC-917E-20F57C19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B1CE1-8D19-4E6D-9F14-EF05AC0E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5EA47-0605-4958-85C0-6F231E27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20-45분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05E3F-358C-4D4A-ACE4-9E4566B0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3143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주요 서비스와 클래스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1972A-226A-4FB5-9A4C-EE76815F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384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S3, Azure Blob, Cloud Storage의 공통 구조와 storage tier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CB3DA-40F4-4054-88A9-D5A86839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C9CC0-CD83-46BF-B3B8-30F07FC9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D84C5-BC4E-42DD-8343-9FAEF848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E0BA3-EC98-4767-A1C2-A8AC632F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00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45-80분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639274-D402-4501-9CB7-F4D74050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62350"/>
            <a:ext cx="3143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애플리케이션 패턴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72A70C-F7B5-425B-A79E-C92A1C64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004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직접 업로드, multipart, key 설계, metadata, event pipeline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FDC59-503B-4553-8A91-86830BE4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33F0A-1878-407B-B06C-39D4420D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A8250F-F0B3-494F-9677-528241B8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7A10A-9655-438A-8723-4BC4EF94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80-110분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A1A405-9BC7-47C5-B966-7E966763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3143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보안·비용·복구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50CEC4-CD38-48FD-87C5-9F5C9149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624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권한, 암호화, lifecycle, FinOps, RPO/RTO, replication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785BAA-4C0E-4BAC-B49C-95A7F15C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7D8977-10AB-41E9-A3CC-B64AC31F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5ECA12-0F1A-4EBC-BD74-F43EA502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83A101-0F52-4336-B5FB-64947A83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110-120분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70AC03-86E4-4F5B-9F3A-80442469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86350"/>
            <a:ext cx="3143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미니 설계 토론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DFAF16-B8F9-4BBD-BBF8-C2FCF5FF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244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하루 1TB 사진 서비스를 스스로 설계하고 trade-off 설명</a:t>
            </a:r>
          </a:p>
        </p:txBody>
      </p:sp>
    </p:spTree>
    <p:extLst>
      <p:ext uri="{BB962C8B-B14F-4D97-AF65-F5344CB8AC3E}">
        <p14:creationId xmlns:p14="http://schemas.microsoft.com/office/powerpoint/2010/main" val="18326722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1E61067-6C7E-4F8B-8601-5CCFC461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F28E887-0354-4901-9402-02AE0B9E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F4E67D99-E88B-4F57-9A53-DC68141B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03BC7A9-7444-4C90-A93D-1E297031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648F305-E17B-41EF-B6EA-E2BF71B6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B335D-2AA3-49AD-BE9A-F3486FCE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스토리지 선택은 '읽고 쓰는 방식'에서 시작한다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B5B05-E6AB-4248-B594-710E05FA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같은 '저장'이라도 운영체제와 애플리케이션이 기대하는 인터페이스가 다릅니다.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F1B9D-DF50-4701-8CFE-A43400B4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Author synthesis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8DF6E-613D-4637-9A2A-B464A694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833ED-9159-4788-BC49-429C1CC8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1432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1903C-3BC0-4A8A-94E4-99649D84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97FB4-43E6-4E4B-A6F1-0185F397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5A553-A620-44EF-981A-5D6197BB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가상 디스크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5496E-540E-4C25-A8B0-72577828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OS가 파일 시스템을 얹음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낮은 지연시간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DB/VM에 적합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E6A41-85B7-4CCE-B423-F66306DD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9412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442DA-F0EC-4F5D-B9EF-745C471D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EBS / Persistent Disk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96932-1304-4B3F-B84B-AF8000A3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31432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0D9EB-54C7-464F-BC0F-55F392C3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E3718-CAD9-4FAA-A9F4-C9131C06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288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60FB1-3ACB-4B79-820C-9B69A53C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공유 파일 시스템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2AE83-3723-46AA-903F-03EBDE2D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여러 서버가 path로 접근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POSIX 유사 semantics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공유 워크로드에 적합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B4834-BE30-422E-A123-83A2FA7F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9412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76C52-929E-45DC-A011-31B6B211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386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EFS / Azure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E9588-A23E-447E-9538-CA0F741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1432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6F24D-5AE0-4343-997F-468EBDA6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F898AE-9086-4F6E-95EB-71992314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Object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BC406F-99D4-4E74-AC5D-00D6F611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HTTP 객체 저장소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8DF81-B41D-4B35-9125-9EC613FE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bucket + key로 접근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metadata와 policy 중심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웹/백업/데이터레이크에 적합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EFF5D-BD8E-4ED9-A323-836C878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9412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38BCDB-B99D-4A52-BD26-63949D74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S3 / Blob / GCS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B14800-B849-457D-B02B-12A82750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34000"/>
            <a:ext cx="8839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7059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2ED73A-DEE9-4CA5-A891-6ED6B26B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86400"/>
            <a:ext cx="853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실무 질문: 이 데이터는 '수정'이 잦은가, '공유'가 필요한가, 아니면 '큰 객체를 오래 보관'하는가?</a:t>
            </a:r>
          </a:p>
        </p:txBody>
      </p:sp>
    </p:spTree>
    <p:extLst>
      <p:ext uri="{BB962C8B-B14F-4D97-AF65-F5344CB8AC3E}">
        <p14:creationId xmlns:p14="http://schemas.microsoft.com/office/powerpoint/2010/main" val="9775775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6A4EDCF-505A-4A52-9816-013B00D8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DE3FDC6-B22B-4F8E-9378-B62D8629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D6DEB72-61CA-4130-84D8-819E0F6A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5E2BD4A-D3C1-434A-97D3-99D43CF2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5EB593-0DEE-4FBA-B04A-C9C83398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OBJECT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D8CE4-9DF7-4413-982D-43607A19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객체 스토리지는 디렉터리가 아니라 bucket + key + metadata다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965AB-F133-4DD5-9F7F-7FC117AB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버킷은 정책 단위, key는 주소, 객체는 바이트와 설명서의 묶음입니다.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2FDCC-555B-4A42-8567-ED9B6803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User Guide; Google Cloud Storage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F88A5-AB03-45EC-A4E9-83C699C0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E5E30-BF29-4097-B12C-10D3E46D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10287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E8485-13C2-4954-8C79-BE3DA365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DF6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2F6DF6"/>
                </a:solidFill>
                <a:latin typeface="Menlo"/>
                <a:ea typeface="Menlo"/>
                <a:cs typeface="Menlo"/>
              </a:rPr>
              <a:t>bucket: media-prod-kr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14E14-1966-45DC-9097-D83F5BF6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정책과 과금의 경계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FA94A-69F7-47C0-B010-42B39879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09800"/>
            <a:ext cx="190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6A2F5-B42F-4DFF-ABC0-DB1968CB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336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4B2DD-E1C6-4ACF-9572-A44E1941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764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users/42/avatar/v3.webp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C6959-463C-4F5A-8BA3-B93602E6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088A7-83FB-44AD-8480-8B7F438F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47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2BC3F-24F1-4CCD-AC93-05E3FA29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7059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CFE53-81E5-46C0-9660-8824FCD1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object bytes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444D0-9120-4C1D-941F-26011C7C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metadata | tags | 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83B4D-AF02-43C9-A7B2-D3909E44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37431-4783-406A-B71C-61F11750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logs/2026/06/14/10/app.parquet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7A9D4-8CA4-4062-9C6E-ABAC8317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842D2A-3CDC-4257-94DF-8CD4BB59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AD80B-48C8-4763-A49C-4087116F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7059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D841A-270F-427A-AF8B-0E3A386F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columnar 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1879C6-02D8-4BC9-A746-9CFA1BB6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metadata | tags | version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D8E69B-9C92-4C6B-A22A-8C43AD94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671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DEC6E7-AA99-4DD6-8B34-A1296EA6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99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backup/order-db/snapshot-009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47E627-24B3-4007-B604-CB744CDD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957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819C5E-855F-42FA-AC5D-2F39F381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5EDC1-25A0-4B35-809E-82AFC37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7059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1FB07A-F11E-488D-97EC-9E14A049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snapshot blob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2B152E-DEE0-49A8-B89F-172BACA0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19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metadata | tags | version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E0AB3F-754C-4297-B540-1D26CAAE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A4BD96-9E4C-40C6-B96D-DC02632D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FC3924-87A8-4E5E-AF28-37EF4E49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8162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944D66-EF97-47C5-BD59-37E04D55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340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누가 읽고 쓸 수 있는가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ED9A35-A99D-43A5-93A8-814D3258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87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74461C-15F2-4D82-9F45-4D4FF262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87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7E8BD7-8E10-4EAF-91E3-7A6BB492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8162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lifecycle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36B1D4-9425-44AF-99F6-EE897692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340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언제 옮기고 지울 것인가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2E8068-2F9F-4EFF-91F4-0854CB70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38750"/>
            <a:ext cx="2457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2FD853-174D-426E-A2C0-246E3021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387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A77312-CDAA-4815-BD2A-DD59786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8162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8AA133-134B-427C-9E7E-AB4BD412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3405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덮어쓰기와 삭제를 복구할 것인가</a:t>
            </a:r>
          </a:p>
        </p:txBody>
      </p:sp>
    </p:spTree>
    <p:extLst>
      <p:ext uri="{BB962C8B-B14F-4D97-AF65-F5344CB8AC3E}">
        <p14:creationId xmlns:p14="http://schemas.microsoft.com/office/powerpoint/2010/main" val="5420610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4C0B7F6-354B-46A4-B753-968A059F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13D081F3-E29C-463F-B822-AF2F3329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8D56F540-E023-48B6-84B9-A22A1657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773BD3-C054-4F1A-93DC-C4518E12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31D7C8-AE76-447E-BAC9-AEE23D37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19F21-A6E9-4F6B-ADB0-72306340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좋은 저장소는 안 잃고, 빨리 읽고, 싸야 한다: 셋은 함께 움직이지 않는다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31E82-08D1-44AE-A51C-4ACB75F1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User Guide; Azure redundancy docs; Google Cloud storage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51098-5399-4E72-8162-210F51AF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DC390-8678-4A08-BE29-62FE8C13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같은 데이터를 어디에 놓느냐에 따라 시스템 성격이 바뀝니다.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E356-3126-462A-BA2B-DC404D47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526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>
              <a:alpha val="9412"/>
            </a:srgbClr>
          </a:solidFill>
          <a:ln xmlns:a="http://schemas.openxmlformats.org/drawingml/2006/main" w="19050">
            <a:solidFill>
              <a:srgbClr val="2F6D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83185-47D7-4345-B1E3-44CAA6E4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내구성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A10F9-30C2-41A9-9259-E0F865A1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193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잃지 않기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A8E16-CF29-43A0-9DF0-6E30376E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43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>
              <a:alpha val="9412"/>
            </a:srgbClr>
          </a:solidFill>
          <a:ln xmlns:a="http://schemas.openxmlformats.org/drawingml/2006/main" w="19050">
            <a:solidFill>
              <a:srgbClr val="2DAA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D8F2C-67BB-45AF-9949-90AFE639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863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지연시간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87CCD-1986-49AD-A116-B8805BAC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102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빨리 읽기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AD2EB-B9CF-4447-A748-1E50014C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43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34F">
              <a:alpha val="9412"/>
            </a:srgbClr>
          </a:solidFill>
          <a:ln xmlns:a="http://schemas.openxmlformats.org/drawingml/2006/main" w="19050">
            <a:solidFill>
              <a:srgbClr val="E763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5F565-4881-41DD-AFDA-9DBED0E0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863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비용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29D18-FA31-4374-82ED-22CC5176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102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싸게 오래 두기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1E3AC-13F8-4263-AF9E-3AF7A67C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7EEAB-422C-4F9C-B977-B8511683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43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8D0C2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B52B7-70D1-4F59-8277-DF88062E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143250"/>
            <a:ext cx="190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F75D2-B421-42CC-9EE5-782ABE81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190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9FE99-AA39-475B-9795-FAA0B7E3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Availability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FDED57-C60E-4613-B641-EB129ACA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62400"/>
            <a:ext cx="3467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장애가 나도 계속 읽고 쓸 수 있는가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E1125C-3B0C-45C0-A682-FB920B5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8686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7059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6BA7F-E691-4C92-A3D2-020C9304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817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설계 리뷰에서는 네 축을 모두 묻습니다: durable? available? fast enough? affordable?</a:t>
            </a:r>
          </a:p>
        </p:txBody>
      </p:sp>
    </p:spTree>
    <p:extLst>
      <p:ext uri="{BB962C8B-B14F-4D97-AF65-F5344CB8AC3E}">
        <p14:creationId xmlns:p14="http://schemas.microsoft.com/office/powerpoint/2010/main" val="11665455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3267939-E07E-47A0-A785-86C9ECA1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FFEC6A4-D507-4D72-B9B0-9E3C1220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24932B05-CF7F-4A44-B594-AE6B02C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41DDA8-4779-42F8-BE5A-12A48B00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CC6CBE-FD80-4CCE-B025-435CB449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58607-278D-4881-8B0A-AF95CE4B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클라우드 스토리지는 한 제품이 아니라 제품군이다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30178-4C9A-4B54-B2DD-811A6974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객체 스토리지는 범용 기반이지만, 워크로드마다 더 맞는 저장소가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70411-795D-4F31-9358-74E7A34D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Author synthesis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91E71-F540-4385-BBA8-9F71E2CF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4BBEC-0D70-4D8A-8C73-49501460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66148-5136-47EC-B4B0-88DE2E9A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9c0998bb64294">
            <a:extLst>
              <a:ext uri="{96DAC541-7B7A-43D3-8B79-37D633B846F1}">
                <asvg:svgBlip xmlns:asvg="http://schemas.microsoft.com/office/drawing/2016/SVG/main" r:embed="R9ae7da5f3b2f4f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23145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B7575-25AE-44FB-871E-6FC98BD2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Object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11F38-68A4-4ED9-B10E-EBAF718C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0985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이미지, 백업, 로그, 데이터레이크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C403C-4C2F-4FF5-800C-E25BD389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5C361-2DB1-4555-96F9-13D8E43C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f51df661b4a2b">
            <a:extLst>
              <a:ext uri="{96DAC541-7B7A-43D3-8B79-37D633B846F1}">
                <asvg:svgBlip xmlns:asvg="http://schemas.microsoft.com/office/drawing/2016/SVG/main" r:embed="R60578510e4c548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29150" y="23145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77F53-6B96-4F52-AF72-FEB23FAF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86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Block volume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E245C-C1A6-45BA-81A5-E92C1A0A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0985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DB/VM 디스크, 낮은 지연시간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805B6-D8B1-43FB-BB07-0FFDB489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574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A16B3-122E-4F91-B294-8D3E06DB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574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000d1d3294dd9">
            <a:extLst>
              <a:ext uri="{96DAC541-7B7A-43D3-8B79-37D633B846F1}">
                <asvg:svgBlip xmlns:asvg="http://schemas.microsoft.com/office/drawing/2016/SVG/main" r:embed="Rebb7509bda9b44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53400" y="23145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10507-6F86-4080-B948-C2A70749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86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Shared file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CF8D74-1352-494D-A913-CD0E3095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0985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여러 서버의 path 기반 공유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FD984-2BD1-4E06-934F-04CCCDD8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12122-8CEC-4003-BFF8-89DF853B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7531f0bc748db">
            <a:extLst>
              <a:ext uri="{96DAC541-7B7A-43D3-8B79-37D633B846F1}">
                <asvg:svgBlip xmlns:asvg="http://schemas.microsoft.com/office/drawing/2016/SVG/main" r:embed="R61142f0ce01146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38385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EACD8-A044-429E-886F-EBA684B5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Database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BD32B7-41FA-455A-B1F6-35DFAD6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3385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질의, 트랜잭션, 인덱스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8B5F38-2117-4659-ADD3-6523045B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814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60CBA4-DFAF-46D0-BEDF-FD9F0FC3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814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2586a458840e9">
            <a:extLst>
              <a:ext uri="{96DAC541-7B7A-43D3-8B79-37D633B846F1}">
                <asvg:svgBlip xmlns:asvg="http://schemas.microsoft.com/office/drawing/2016/SVG/main" r:embed="Rc8951e10dc4940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29150" y="38385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814297-37AE-4B42-86F3-EFA45E19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0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Archive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9657FA-FC3D-4097-9BD7-E70527E0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3385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장기 보관, 낮은 조회 빈도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60DF5D-57C5-42FC-AA59-D941F403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778869-265F-4309-9A7E-B47F7D0C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6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b624ee00c408f">
            <a:extLst>
              <a:ext uri="{96DAC541-7B7A-43D3-8B79-37D633B846F1}">
                <asvg:svgBlip xmlns:asvg="http://schemas.microsoft.com/office/drawing/2016/SVG/main" r:embed="R7926cc6b70d046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53400" y="38385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199AD1-ED70-4890-80AF-75D45B36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10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Cache/CDN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639098-4B73-48E9-BE53-B08AE70B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3385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반복 읽기, edge delivery</a:t>
            </a:r>
          </a:p>
        </p:txBody>
      </p:sp>
    </p:spTree>
    <p:extLst>
      <p:ext uri="{BB962C8B-B14F-4D97-AF65-F5344CB8AC3E}">
        <p14:creationId xmlns:p14="http://schemas.microsoft.com/office/powerpoint/2010/main" val="18653314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7C887E8-7754-401C-8DF9-20F00790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8194326-1B62-49F5-8B77-12D66042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BBD739F3-648B-4CDF-A846-886D97C1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7B37B3E-9C2F-4D38-86F7-4CFB001D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FF427D-22DF-4F4E-B69E-5CBD0A22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CROSS-CLOUD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18654-980A-4EAE-BD3A-82A2E52C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서비스 이름은 달라도 운영 질문은 거의 같다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21073-F0AD-41B1-AD95-1061BC81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벤더별 용어를 암기하기보다 같은 질문을 매핑하는 습관이 중요합니다.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89D44-9397-4F24-85B0-21EFE3A3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S3; Azure Blob; Google Cloud Storage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DE989-32BE-4990-AA73-F0901759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A9294-642E-4714-830F-611334E2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1019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770D8-0FED-4AC0-868A-B30034B7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질문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77F0C-4C5B-48DF-AE55-79FD9626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1930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C2788-E90E-438C-8CF3-AA047929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1930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Azure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D62BC-7050-413C-9B23-AB71F5FA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193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Google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AF693-2986-4F5B-8CE7-A15AE5C0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0706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163C4-5F0D-40A8-8E47-A6D8DB01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객체 컨테이너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43EDE-7F68-424F-B3E9-BD7D97FA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Bucket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E87EA-9F66-49F4-8F9E-4D70CCA4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24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3DC50-19AB-4106-A420-1B75E2E9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955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Storage account + container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50E21-24B4-40DA-A85C-AB6E9EEF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24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96C70-18C1-4334-8CC4-EADAD619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955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Bucket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948C7-3F3F-46D4-A1CD-057B3D83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78058-E007-4996-87B3-A8C33F69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0706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B1073-A6C3-46DD-9ABF-E2709079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객체 이름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11334-08C5-43D0-87BF-580D5210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480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B7C4AD-1212-49DE-9A40-4E27A11E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765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CF4C0-0D79-443D-84C5-27C82268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4800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Blob name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62EDD0-A33B-4419-A9A6-B4A0C85E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765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EC236-CD30-4486-89CF-008CCA4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480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Object name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49D84-A0D1-4FBB-B7AC-A750617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176FAB-BF1E-4451-BD4C-1C6733A3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0706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08DA5C-5457-48EC-ACB3-77A2F43B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접근 제어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456B32-AE8E-4E9F-9ABD-777C6960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0045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IAM / bucket 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3EAC5D-3140-46B2-B28B-764EB453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29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E2BD0A-71E5-403D-8A35-BBA4AD12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004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RBAC / SAS / policy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DFA0FC-1927-4C8A-B579-AC8FFC22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ABB142-CAF9-46A3-8B64-D6D5732F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IAM / signed URL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823306-0FD0-4081-8364-34FE2AEB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42F51D-3EF0-4F75-A24E-E65F8E23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0706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E97D12-EF15-47A2-909B-73896AF1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저장 클래스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2EBF46-D0D7-4DD7-8D0B-51CBA6B9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529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Standard, IA, Glacier...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EE2DA3-D01B-49FC-9385-2BD1737F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814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A18E7A-C3B3-4E40-8100-11F8984D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5290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Hot, Cool, Cold, Archive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343202-C219-4217-AA4D-FB173A16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0E4500-005D-4369-9AF5-398D2C24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529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Standard, Nearline, Coldline...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FF8C5F-D415-4FDF-ACC5-FF158A0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F8414E-93B7-494E-8349-E8AEB346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0706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BB0BA6-0A6C-4EE7-B701-D52A16CD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자동 이동/삭제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18C248-CB2E-4768-852D-B30D887D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0535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S3 Lifecycle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88B371-1BA0-4D4C-AE4B-E0F513CC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33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A63229-F238-47A9-BD92-9D8245D8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053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Lifecycle management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A67A4B-BD62-4E3C-984C-A3497C76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33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5333B5-DB09-4109-8EED-9FAAEAC7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053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Object Lifecycle Management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871045-C845-49E2-9813-418EB040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BA352A-D74F-41CE-9E1D-9FB0794D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0706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26FFF4-8135-4444-83F5-C1443E92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삭제 방어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91473C-44D4-43D7-8A92-379A411F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578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Versioning / Object Lock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19BFA7-FE49-4229-A7EC-490D3CB5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86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2701C3-6540-46A4-B1E8-25913C82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5780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Versioning / immutable storage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6D1A1A-F65D-4C2A-8981-445FB0EB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86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7B39B5-962D-490C-A3A8-1E05BA22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578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Versioning / retention policy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E4E929-6DB5-4929-9AB4-01C753C7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86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75168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D5CAA0D-C0A1-40FC-BF1E-9D5F65EF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526A0BD-D32A-4EAA-A70B-EAE17BE2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B6837446-41B4-454C-8F3B-3299BC2A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1AAC936-B1F2-4C3C-AE46-EF20C6F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65EB1D-4081-44F2-BE5D-157CE05E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STORAGE CLASS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3CFC5-9CEF-4C78-930F-C6FC663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스토리지 클래스는 가격표가 아니라 접근 패턴 선언이다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2E69F-E1CB-4374-80B8-6CCEB6A5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접근 빈도, 최소 보관 기간, 복구 지연을 함께 봐야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FED0A-7738-4ED2-8D90-EC836BFD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storage classes; Azure access tiers; Google Cloud storage classes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9DF5B-99F4-4D7C-8D27-8268621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66653-83B2-4FFD-BAC7-E9DEC33E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65CE3-7456-4DC1-90A3-4DF5F68F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266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43403-735C-46B3-9650-8CCBDE63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Hot / 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AFCF4-E65E-45A8-A73A-6C41321D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자주 읽고 즉시 응답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B034C-D446-4EDA-AE66-C1B1AA79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높은 저장비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낮은 접근비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49D94-2ADC-43F3-B4F3-3B68E037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290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9AD01-78EC-4ADD-9F88-3C359549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14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E3058-2AD4-4A6F-BB52-6EA8D9CE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4790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D95BC-A270-4E5F-B16E-93D4CEE2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47900"/>
            <a:ext cx="2266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9D2AF-D4FE-4988-A207-B705C73C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Cool / Nearline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27778-EFB7-45B5-87FA-21558508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가끔 읽는 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740E9-138E-48F9-80DF-95466578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76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30일급 보관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접근 비용 증가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097CB-304F-40C9-A967-B623846B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43C36-C1ED-4387-AC4E-6DC91B94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14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E56A0-0F93-489A-8A1C-41353E20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B84F7E-334B-48AA-930C-F785A0C6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266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4756E-0CC4-45EE-97B6-0C2798C1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Cold / Coldline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102A77-0546-49CC-A325-93F2D102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99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드물게 읽지만 온라인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268A5-91CD-49C0-999B-5442CA65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90일급 보관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검색은 즉시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854AD-FD91-400E-BE1A-4C991983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BD0E4-EEDC-4C32-AE51-3342209C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7D20E7-A9C1-47E3-BF04-11604583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7EEAF5-191C-4BAF-A4BC-7E4A3609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2266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C9E1B2-65C2-4AB9-BF88-7DF1B490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0985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Archive / Glacier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35F4C0-EF4A-4969-9155-0F00E575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099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거의 안 읽는 장기 보관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45AC2C-0E97-4566-8D72-DBFDA579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76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복구 지연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최소 보관 기간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95A2A-65B5-4804-8AA4-D5D539FA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38750"/>
            <a:ext cx="8648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7059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2D42E6-6991-4094-B13A-54C7F679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91150"/>
            <a:ext cx="834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실무 규칙: '싸니까 Archive'가 아니라 '복구 지연을 감당할 수 있는가'부터 묻습니다.</a:t>
            </a:r>
          </a:p>
        </p:txBody>
      </p:sp>
    </p:spTree>
    <p:extLst>
      <p:ext uri="{BB962C8B-B14F-4D97-AF65-F5344CB8AC3E}">
        <p14:creationId xmlns:p14="http://schemas.microsoft.com/office/powerpoint/2010/main" val="1439630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98F46F1-26D5-48EA-B3CD-FF22B04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DF1AA6C2-3643-4E6E-B29F-46C76FBF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0CF20F2-D42A-4223-92E7-18F7E5C5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10E702-3760-4763-BD1A-98273235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332ED10-0017-4093-A348-8D7083F7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B7CCD-441A-4620-BAA9-5E7F79F8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수명주기 정책은 비용 자동화의 첫 번째 도구다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4DA18-5503-4119-8475-1511D50D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객체가 나이를 먹을수록 정책이 자동으로 달라지게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B6011-663E-499A-8E59-98CE330A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Lifecycle; Azure Blob lifecycle; Google Cloud Object Lifecycle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573EF-B26E-4C73-BA7E-241A7BD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293EE-632E-474B-9CD3-E72797EB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9372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E574A-EB5C-4CC9-A95C-814B443B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9AE00-6BBE-4BBF-A71B-B2497C49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업로드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033CE-3851-48F7-B1C1-12F1CE5D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5814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Standard</a:t>
            </a:r>
          </a:p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metadata/tag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2B239-9835-4C64-8609-6E815D8B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62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695BD-3E60-4171-AD87-CDA680F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2415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30일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BC354-F0AC-4DA5-9C24-D77EA8F8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814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Cool/Nearline</a:t>
            </a:r>
          </a:p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접근 빈도 관찰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5C534-1850-421E-B5B5-74B98357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F08D8-D200-410A-A7AF-A8C80B92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90일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FD10A-CA38-4122-8662-F6FD9960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Cold/Coldline</a:t>
            </a:r>
          </a:p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검색 가능 보관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3B94D-6355-4227-AE44-85E44764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62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C5C75-C216-4E40-89AE-F294826E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2415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1년+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4D527-185D-4D77-9A3F-8441EA11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8140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Archive 또는 삭제</a:t>
            </a:r>
          </a:p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규정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D6EBD-750B-46D7-888E-8684E58C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264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0EFBB-3565-4DCC-8A40-BF98E3B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EA4ADF-11B9-43DA-A5B7-7FA85270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53025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3144C3-49C7-48DA-AD3C-3F86FA75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0545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age, prefix, tag, version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AA20D9-67E9-4D60-A616-788DCB90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264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6AE3A-501E-428F-A1BB-4615419C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DCEFA-BE28-4520-8653-44C636F1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53025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2DAA57-DC07-43E0-A5B0-AB71B880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0545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transition, delete, abort incomplete multipart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282065-5A87-4BF4-A917-0894C5F8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264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BE1F58-13D6-4ED9-8B56-CA72EFFE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6C2312-8D28-44CA-9662-95EF3336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53025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주의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818C8-50B7-4F14-AFCE-53349F64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작은 범위에서 테스트 후 전체 적용</a:t>
            </a:r>
          </a:p>
        </p:txBody>
      </p:sp>
    </p:spTree>
    <p:extLst>
      <p:ext uri="{BB962C8B-B14F-4D97-AF65-F5344CB8AC3E}">
        <p14:creationId xmlns:p14="http://schemas.microsoft.com/office/powerpoint/2010/main" val="13819496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ADB552E-19A9-466E-816A-7A5BD1BD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D6A13BBD-2672-42B1-BDE7-EC9504CD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A775A33C-477A-41B9-9D3F-8491AA66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A3D3677-3924-48A9-88B2-6336E8DB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41CC35-C899-49A5-B234-FA4C6FE2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UPLOAD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77FDC-2FD1-474B-BCCC-A6B22933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대부분의 웹 업로드는 서버를 통과하지 않고 직접 스토리지로 간다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82C42-E2D6-4D3C-9E64-B5156949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서버는 권한을 발급하고, 바이트 전송은 스토리지가 처리합니다.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C7B3B-C043-4B4F-9167-AEB83984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presigned URL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B3028-812B-4E2F-99F3-88FDB526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4E8E1-45ED-47F9-A48D-B2C7400C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21bc0648242ad">
            <a:extLst>
              <a:ext uri="{96DAC541-7B7A-43D3-8B79-37D633B846F1}">
                <asvg:svgBlip xmlns:asvg="http://schemas.microsoft.com/office/drawing/2016/SVG/main" r:embed="R9fba7a01a2584d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3950" y="28384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4F169-7915-47A3-88C0-165432C0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57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A70A5-623A-4DF1-AB8D-2B2D8F26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1. 업로드 요청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0FE57-D736-461C-8DA5-EF85F302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4310414cb4e98">
            <a:extLst>
              <a:ext uri="{96DAC541-7B7A-43D3-8B79-37D633B846F1}">
                <asvg:svgBlip xmlns:asvg="http://schemas.microsoft.com/office/drawing/2016/SVG/main" r:embed="Rc50d6172050a4c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3800" y="28384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BD8EB-A333-4617-A381-F4BC1CB3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API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9BE85-D2AC-4801-AC37-A7C1D8D5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2. 인증/정책 확인</a:t>
            </a:r>
          </a:p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3. presigned URL 발급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FCB8D-5300-41A3-9EA5-BC0F2516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65afa464a4404">
            <a:extLst>
              <a:ext uri="{96DAC541-7B7A-43D3-8B79-37D633B846F1}">
                <asvg:svgBlip xmlns:asvg="http://schemas.microsoft.com/office/drawing/2016/SVG/main" r:embed="R60fb2d1a31b940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15100" y="28384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C922E-2F00-4507-9B4D-AFBB091E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Object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3D794-917D-4564-9BB3-9449BD73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1470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4. 직접 업로드</a:t>
            </a:r>
          </a:p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5. 완료 이벤트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46E96C-DFA6-49C6-9EA2-89149FEB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47950"/>
            <a:ext cx="2038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abe6816634004">
            <a:extLst>
              <a:ext uri="{96DAC541-7B7A-43D3-8B79-37D633B846F1}">
                <asvg:svgBlip xmlns:asvg="http://schemas.microsoft.com/office/drawing/2016/SVG/main" r:embed="R085eea2f34c84b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96400" y="28384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140E6-BB75-4943-8A7E-3A1365DC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57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DB / Worker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E1439-929D-413E-B9D1-FF127A45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1470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6. 상태 저장</a:t>
            </a:r>
          </a:p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7. 검증·리사이즈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F43AC-3816-4902-B626-C74081B2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480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708F7-9EE8-419F-965E-B5D3AC10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33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0E7C7-D3CF-475F-8C49-F342119A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4802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6AE979-C1CF-4B51-9A80-F6DACC89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33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F2579B-608D-4F40-B53F-4AF00A48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4802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349716-8952-4701-8D99-8B814550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33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92A539-BDA2-4137-8FBD-6DB85A54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53000"/>
            <a:ext cx="830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7059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ED9937-E1D9-4D95-8AB6-2DA84C61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054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장점: 서버 부하 감소, 임시 권한, 큰 파일 대응, 감사 가능한 후처리 흐름</a:t>
            </a:r>
          </a:p>
        </p:txBody>
      </p:sp>
    </p:spTree>
    <p:extLst>
      <p:ext uri="{BB962C8B-B14F-4D97-AF65-F5344CB8AC3E}">
        <p14:creationId xmlns:p14="http://schemas.microsoft.com/office/powerpoint/2010/main" val="15762549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9167EB8-EA7A-4632-AB33-419FCA33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4BC78F5C-8F8A-4F29-A7BF-A612B6E5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F53ECCD7-1279-4B83-8F2B-6B385F11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1731CB-1294-4A34-80EA-6DE0D66B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0A4617-9E11-4CDB-9072-414B9A3F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LARGE OBJECTS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FADDB-446D-4C35-80FB-D08D3F17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대용량 파일은 여러 조각으로 올려 실패 범위를 줄인다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DA944-0749-4CD3-8FDE-F0C1D450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실패한 조각만 다시 보내면 되기 때문에 대용량 업로드가 안정적입니다.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1EDA9-611D-426F-83A0-6CE6D1E6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multipart upload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9F13D-40C4-481C-A9FD-F734F57C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EC15F-995C-4D51-BF55-DF4A3049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9AA85-3731-4D9A-AAD0-FF5189F9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7C84C-E015-4739-AF99-20F43731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38375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1. initiate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18257-CDA3-4779-AC63-9B67A891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업로드 ID 생성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checksum/metadata 설정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11FA4-AC4A-4A82-9B09-78FDD002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907B7-8F25-42EA-92FE-54B1C69F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8329D-C055-46E8-9D07-005EBAD0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38375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2. upload parts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C2087-A305-4C8C-988E-8B04D1FB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9080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part 1..N 병렬 전송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실패 part만 재시도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0F99D-DB48-4BA0-8048-BD7646D3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2210B-A276-4DC4-A726-27DBF2D6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4A005D-26F4-4904-8CE5-8E82476C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3. complete / abort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CDA62-8FBC-40FD-A376-CEC6A21A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ETag 목록으로 완료</a:t>
            </a:r>
          </a:p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미완료 part 정리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DF93E-6686-407B-90C4-4CF8B19C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91293-CFD7-461F-B124-5E2CA03C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ACDA0-F7C5-4A87-AFE3-7D474C49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337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EC63B-7B1A-4DEE-8FFA-F0AD5EB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19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9337E-E745-4F4B-9BD5-1877D5F5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26667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8048D-7E5F-47ED-9FD8-52EBACDF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814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D4F8F-5FFA-4193-A344-0E6DE646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26667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2914E5-9350-48C1-A549-A0E698C2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F80A0-11B5-4690-A50C-C0DDA877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26667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B4C43E-5253-4D0F-9BDF-36EFE047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814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28AA39-621A-4A9E-920E-A99A3DB1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718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26667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056F65-ED4E-4A51-B182-460BA957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9E0C33-8C03-4C31-AE18-F29F4BA5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26667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42C14D-1F8C-4974-99AE-54FDC7BD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2BFEBD-617F-4444-8123-D7DB686D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718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26667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B84A4B-2B5F-4AD8-87A0-4F743277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14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967F9C-788A-4FAC-B457-827CD2CF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067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7059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DEE6BE-FFCF-408E-A530-28BE2FC3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721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주의: 완료하지 않은 multipart upload는 저장 비용을 만들 수 있어 abort lifecycle 규칙을 둡니다.</a:t>
            </a:r>
          </a:p>
        </p:txBody>
      </p:sp>
    </p:spTree>
    <p:extLst>
      <p:ext uri="{BB962C8B-B14F-4D97-AF65-F5344CB8AC3E}">
        <p14:creationId xmlns:p14="http://schemas.microsoft.com/office/powerpoint/2010/main" val="12193278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657FE28-A236-46E1-A5C4-0F073AEF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3292F24-C897-434B-9277-53811B4F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2207C74F-F0B8-44D2-9FC3-74352F4F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EC6ED2-C39E-43EE-A982-9056C2C4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35494FD-AB85-429A-9F31-39AECAC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KEY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E8C62-6EC6-45CB-9EA0-5B3F6E4D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객체 key는 이름이 아니라 운영 인덱스다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57222-F489-4031-97B2-C90ABD9A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나중에 조회·권한·수명주기·비용 분석을 쉽게 만드는 이름이 좋은 key입니다.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5160F-656A-44AE-8434-938E2C39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object key docs; Google Cloud object name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D4C71-5E2B-4719-A506-0F26C6F6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FDF1D-52B8-4332-9B09-4666797F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9412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006B6-4B68-4324-AF61-86980434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좋은 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32ABE-1D30-4DF8-B7C0-058F89EA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00250"/>
            <a:ext cx="826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676C0-34B9-4C8F-9454-7702E3B8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43125"/>
            <a:ext cx="777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tenant=acme/year=2026/month=06/day=14/type=image/uuid.webp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EAF60-A8D5-4BA6-88A3-6A48DF70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9412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E083F-FFAD-4FA3-AFED-8A148CB6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좋은 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0FA8D-114F-4723-8C57-0B90F6DD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43200"/>
            <a:ext cx="826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7"/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B936A-9190-48B6-8DE5-A4EEEDA0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777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logs/app=api/dt=2026-06-14/hour=10/part-00017.parquet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69313-2EB3-414C-8BCC-A9E038EB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9412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13D54-DB7A-40E0-93A5-CFA32914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나쁜 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37801-8740-4904-833C-D56BAF04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826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4"/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8B080-6EDC-4E78-A446-BCE8D6E0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29025"/>
            <a:ext cx="777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final_final_really_final.jpg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A7453-0EE6-4F23-A273-9D79D6FC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9412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D2F56F-C1F3-4CC1-87BF-89EB2F7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나쁜 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1C320-DDE6-4D63-BB9E-F9DB43B3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29100"/>
            <a:ext cx="826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4"/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DEFB3-E9BA-4DF9-B364-B630C768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71975"/>
            <a:ext cx="777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홍길동_주민번호_계약서.pdf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F38CA3-76A4-4501-A421-BA14D278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81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203A80-E744-4EBC-B2BA-76E4070D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14950"/>
            <a:ext cx="721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prefix는 정책 단위와 맞춘다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6C32F8-93CC-47D1-83A3-52B428A4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762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D37FA6-B133-4D21-91FC-907D3931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95950"/>
            <a:ext cx="721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개인정보를 key에 직접 넣지 않는다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793323-9A08-48DD-B31D-9680840A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43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53EC77-3B77-4809-B1EB-1273F14E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076950"/>
            <a:ext cx="721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시간·tenant·type 기준을 일관되게 쓴다</a:t>
            </a:r>
          </a:p>
        </p:txBody>
      </p:sp>
    </p:spTree>
    <p:extLst>
      <p:ext uri="{BB962C8B-B14F-4D97-AF65-F5344CB8AC3E}">
        <p14:creationId xmlns:p14="http://schemas.microsoft.com/office/powerpoint/2010/main" val="12464685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1B4A9E7-C751-429F-98F4-64FA593F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AF6CC64-5F0E-41A1-A9F2-D851B36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09948C48-30A4-48E2-BC58-820C1925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07BF22-A60B-4A9B-A780-07553D7C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B6C2F2A-1CF9-4883-869A-56746C46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F9903-6536-4EFA-85AB-E7D210BD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메타데이터와 태그는 나중의 자동화를 만든다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29079-9822-4715-9E7C-359245A3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처음에 붙인 작은 정보가 나중의 자동화와 비용 분석을 좌우합니다.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35C37-4020-4720-9821-4C49BE71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object metadata/tags; Google Cloud lifecycle 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F4CA8-FCEA-4068-8712-F02E0D3D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3E5FA-1D5A-4602-8981-2ECFF51F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486BB-50A8-4B86-9A43-EF857B3F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HTTP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21C90-9776-4A1F-9792-F5604AB2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Content-Type, Cache-Control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DC0F7-D9BF-45F5-A2E9-930BFECB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브라우저 렌더링, CDN 캐시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BEA7E-0A5A-4A97-97A3-B0EC8B45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9B054-9B3C-4924-A032-F7645DCE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Integrity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CAAEB-9856-4494-87DB-8A27FCCD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checksum, ETag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69178-F198-4EF3-8207-8DB78B54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전송 오류 검증, 재처리 안전성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4F86A-9F31-4F64-8510-A63EEEC3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0C896-9861-4D62-9BA4-B3DA4189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Business tags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BE856-DF25-4142-98F3-480C6B44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tenant, product, 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DE6FD-A3DC-4822-93DA-34A395E2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338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권한·비용 배분·검색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5AC40-6AF2-4141-B9AD-A65AD0C3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009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E3F1A-BDEA-41DB-816D-9D933176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Lifecycle tags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1913E-B991-4B9A-81F9-3DD0F1A5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148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retention=90d, class=raw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8B72B-78CF-435B-9C2F-4C1518B1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148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자동 tier 이동·삭제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EA713-E30B-42EE-B028-26FF4565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34000"/>
            <a:ext cx="8420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7059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1184DD-D8A4-4B8D-98CB-EC629601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86400"/>
            <a:ext cx="811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업로드 순간의 메타데이터 설계가 나중의 전체 스캔과 수동 정리를 줄입니다.</a:t>
            </a:r>
          </a:p>
        </p:txBody>
      </p:sp>
    </p:spTree>
    <p:extLst>
      <p:ext uri="{BB962C8B-B14F-4D97-AF65-F5344CB8AC3E}">
        <p14:creationId xmlns:p14="http://schemas.microsoft.com/office/powerpoint/2010/main" val="1369364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9C1383A-0A0A-4D18-B439-44414BD6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68A5B94-E447-4754-B318-824FD0CC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A81980B0-F842-40A5-AB16-3AF40EAB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917AFF8-F3E2-4DB3-A5AC-70AFFF13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6DFEB0-8822-4ECF-9EE1-8985794A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F779B-7EF0-4F35-BA5E-DF19D465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권한 모델은 private by default에서 시작한다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E13F6-A4EB-4E94-B56E-BA51E54E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읽기와 쓰기 권한을 넓게 열어두고 나중에 막는 방식은 사고를 부릅니다.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4A90E-F3AF-4FBC-8F4D-62C3E040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security best practices; Azure security recommendations; GCS IAM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61B5D-B910-4CBE-A408-B2444178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3E8E0-BE32-451C-862E-4BBC96E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76450"/>
            <a:ext cx="681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8627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1C779-872D-4FBE-A4EF-8857B2B8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47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조직 경계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42E22-0757-4E0F-AC62-320508B1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public access block, policy guardrail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FAF31-30E0-4D20-9F66-B77E04E0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67000"/>
            <a:ext cx="575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8627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872D0-14EF-45F7-9829-0FA2178A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38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계정/역할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74EBE-773A-4E62-8383-D727BC6B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76550"/>
            <a:ext cx="3409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IAM role, service account, RBAC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7514E-6259-47CD-8989-4D0606F1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57550"/>
            <a:ext cx="4686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8627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126F1-BCA4-444F-AE15-F2CF8A78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29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버킷 정책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25DCA-5EEF-4368-9342-CFBA7DED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prefix, tag, network condition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6318F-FBE6-465C-8E6C-F65FC177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48100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8627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B7850-D670-4F39-BEB9-6FB6A0ED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19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객체 접근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6721C-37D1-418A-B210-DA5601EC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5765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short-lived signed URL / token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DAE2E-D511-4CAB-A43F-FB03446C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원칙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3455C-B989-4031-966F-ED264FF9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62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5AE70-7D49-4678-8BC9-24C0A11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955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private by default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AAA71-9BA3-436F-895E-696E8E29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62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C2A992-E7A6-4AF9-9E3D-3F676874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least privilege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72B70-5BAE-43F2-97A2-83B096B1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6F7BE1-DB96-460F-AA2F-0D12AE46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9565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temporary access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8FAD5-928A-4E30-A743-B5FBB766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5902F7-2497-4DDB-A76B-E3EB3AC3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95700"/>
            <a:ext cx="2171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audit everything</a:t>
            </a:r>
          </a:p>
        </p:txBody>
      </p:sp>
    </p:spTree>
    <p:extLst>
      <p:ext uri="{BB962C8B-B14F-4D97-AF65-F5344CB8AC3E}">
        <p14:creationId xmlns:p14="http://schemas.microsoft.com/office/powerpoint/2010/main" val="17804757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501A8FE-24AC-4C47-ABDC-6FB60C5E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166ABCF7-36BB-406E-A6C2-C97E91C7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48B306EB-4C20-4956-A5B1-6893A907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6A2098-1188-4DA8-852A-39FDC63D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F6F61D-4FC7-4771-8D8B-57F64362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INCIDENTS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D7E32-8E8D-495D-9C6E-6900A026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공개 버킷 사고는 기능 문제가 아니라 경계 설계 실패다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3B460-28F1-4E17-AE7E-84AB8496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사고를 사람의 주의력에 맡기지 말고 여러 방어선으로 막습니다.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97C58-872B-40D1-8101-BE43D574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Block Public Access; Azure/GCS security 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85C94-67D2-4736-803E-F438A86B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4C26C-9F30-486C-B585-00C7FA2B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2152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2C952-F3D1-487A-A7A9-936E19C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실수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DBD22-7589-4441-BE06-99989E06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콘솔에서 public read 허용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8D43A-4704-4857-A089-34AB2041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67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58990-8039-448F-988F-1211FD50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0E5F9-BEF6-4098-B05D-0242B52B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2152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B1FDB-5E7C-4584-987C-47803A7C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차단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57470-11D6-4462-924C-1E69AB66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051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org-level block public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7A4DB-A0A0-4496-9AA6-50B6E578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67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765CE-521C-41DB-A698-437DFC31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FB7D0-2789-469B-BCFB-A7716920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2152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35F5E-295A-46E6-97C3-618A911F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검출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96B46-66B7-4A32-BE57-8EB14C3A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policy analyzer + log alert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1E91DA-AAE5-4CB0-BADB-28380A11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E9036-8AA6-446A-ABD6-5532D40B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52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A520B-F57B-48E9-A8AB-0953773B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62200"/>
            <a:ext cx="2152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7D378-AA14-43F2-ACC5-6A700F2A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BFB048-7AA5-4318-8D48-5854FB9A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051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자동 revoke + incident runbook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7E3222-6A5F-47AE-AC83-3AD8057A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625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9412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371429-D5E8-4CB7-96A4-E6E0D0A6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00600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IaC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554695-5975-4C01-A13A-FA4400D8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625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9412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CB75C1-C521-4DE9-AB88-94283FCF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00600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sensitive data scan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30B032-E6BF-4078-A52F-073AC5A2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9412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A97352-4FC7-4D73-BC1C-C4962D67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00600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access logs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FA29E1-99BE-4614-818E-053C7361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625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9412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C3025C-A4F4-47E2-A423-195A1D86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00600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periodic permission diff</a:t>
            </a:r>
          </a:p>
        </p:txBody>
      </p:sp>
    </p:spTree>
    <p:extLst>
      <p:ext uri="{BB962C8B-B14F-4D97-AF65-F5344CB8AC3E}">
        <p14:creationId xmlns:p14="http://schemas.microsoft.com/office/powerpoint/2010/main" val="170591617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F8C9CA8-1AAF-451A-B07F-A790505D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41191D9-534D-493C-A00A-9E27488B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3B5E11D4-70B7-41E2-91F6-916812CF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9A74D9A-FBA5-40F8-A79B-EC45E8F5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C3683A-B575-401C-888E-3317528B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ENCRYPTION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2EA11-D0B7-43D9-AB29-A45A7C2E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암호화는 체크박스가 아니라 키 운영이다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FE29E-217E-425F-AAA1-379848F5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데이터를 암호화하는 것과 키를 안전하게 운영하는 것은 별개의 문제입니다.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F6BBE-A56F-4B03-85EC-2B1F9BED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encryption docs; Azure Blob encryption; Google Cloud encryption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320CA-0E11-4C28-AE44-975DE705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CE34-3D7B-49AA-89A3-BCE8A1FF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146ad17e14df6">
            <a:extLst>
              <a:ext uri="{96DAC541-7B7A-43D3-8B79-37D633B846F1}">
                <asvg:svgBlip xmlns:asvg="http://schemas.microsoft.com/office/drawing/2016/SVG/main" r:embed="R11ef11fcb55d47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33500" y="31623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9EBE9-AFCD-43ED-88FF-C4E4064C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623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App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7956F-0A94-4A59-B042-B6590E00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kms:GenerateDataKey</a:t>
            </a:r>
          </a:p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kms:Decrypt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DB4B2-1D3E-4B79-85FC-A26D265E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cba498a1e452f">
            <a:extLst>
              <a:ext uri="{96DAC541-7B7A-43D3-8B79-37D633B846F1}">
                <asvg:svgBlip xmlns:asvg="http://schemas.microsoft.com/office/drawing/2016/SVG/main" r:embed="R1d9e9cf787ab41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38600" y="25908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3F92E-0879-4AA9-9A41-6D88CA14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908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KMS 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1B2D5-BB76-436B-B1D5-05816C06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48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rotation | policy</a:t>
            </a:r>
          </a:p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audit 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5AE18-9350-47E8-9C26-7160F72A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b0e81fa4d4ba1">
            <a:extLst>
              <a:ext uri="{96DAC541-7B7A-43D3-8B79-37D633B846F1}">
                <asvg:svgBlip xmlns:asvg="http://schemas.microsoft.com/office/drawing/2016/SVG/main" r:embed="R3e61d9892c984b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29450" y="31623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C7F56-9FCE-4C2F-8756-7A18E98F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623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Object 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DB332-4198-4447-9FC2-CCF8DA75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encrypted object</a:t>
            </a:r>
          </a:p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metadata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36682-490F-4CB6-BA5B-9922DBD7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6252c46cc47ce">
            <a:extLst>
              <a:ext uri="{96DAC541-7B7A-43D3-8B79-37D633B846F1}">
                <asvg:svgBlip xmlns:asvg="http://schemas.microsoft.com/office/drawing/2016/SVG/main" r:embed="R3aba728bbeb04f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0" y="25908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E00A4-583D-469A-82A7-83FC4E49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908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B43D2D-86FE-4FA2-9F13-6F356FF5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who used key?</a:t>
            </a:r>
          </a:p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why?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282BE-CF69-4195-BC89-CB1F2461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6F20D-B711-4447-A309-D4E5C0CD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09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61D505-0913-49AA-88B2-3475DB75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34FDD-E7F3-4469-9616-03CDB0D2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B0276-6602-483B-B05E-8ACFB35C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AD29F-9757-4435-BD7C-9B873859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09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1A657A-4BE9-4E80-90FA-1C1A973D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7059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64C81C-E6C8-4210-A357-70ADB523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72100"/>
            <a:ext cx="7505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실패 모드: 키 권한을 잃으면 데이터는 존재해도 읽을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9978693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36BBAE9-6248-4166-B736-BE90BF87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48CB8F3A-1CEB-4C93-8CB0-DC14FB78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D0E1FFBB-4C2B-4761-B348-7B0D34D1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2A5C08A-6673-46AE-81D5-73A56A9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D6C455-C26B-45A6-B3CB-1CBCC605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RECOVERY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224E7-C0D5-4BE7-8BDB-8FED40CE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버전 관리와 불변성은 삭제 사고를 복구 가능한 사건으로 바꾼다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467CC-0DF7-4F0E-ABB9-AD2E5181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삭제 방어는 버전 관리, 보존 정책, 복구 절차가 함께 있어야 작동합니다.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D5393-E255-436D-A008-4AA9805B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Versioning/Object Lock; Azure immutable storage; GCS retention policies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F4C09-FA34-42FF-98B1-12C31872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17209-3AF8-4F22-85B1-3D5460D9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9410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0607C-D7C4-4FA0-8ACA-23CD9A76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9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BAC72-2BFA-4ABD-9982-201562E0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T0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BC06A-BAD8-4F10-9E09-337382DA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v1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47977-8711-4096-841F-1D3CB196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9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996B1-A429-4ACF-897C-88E6C82A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T1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D66B3-BCDF-48DA-B84E-8236D394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766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v2 덮어쓰기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8A6ED-46BE-4FD1-B270-DF789100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09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A7810-EEA2-43EE-BFC2-DDCE0963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T2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81BA6-592B-4B6B-8681-8903C441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766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실수로 delete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82853-9F2D-4490-8C9B-2A919D9C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09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BDAF9-E3F1-4CDC-8765-1C4E23A8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T3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88236-38B4-4D70-BB68-FCB8A085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766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delete marker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EF566-2ED4-48D9-AF62-A5040275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209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4324D-6D38-4D95-A2FE-A663A4D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813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T4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E30CF-DCA2-4B61-B609-AE6A61B2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v2 복원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D9742-C909-4DB6-8819-01690152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A4ACD-1037-4CB4-A2A4-C7CFCE9F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3DD148-C024-4CFA-9D9D-AA98AE86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95875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Versioning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CB365F-3C59-441D-AE45-40AD96AF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48300"/>
            <a:ext cx="2019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과거 객체 버전 보존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72DD02-B44B-4D1A-A6E7-78B8C75B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C4EF28-AEE4-485A-ABBD-FDA2BD5E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E90C9F-1A7D-49A3-8A94-485DE64C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95875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Object Lock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DD5FE9-EBCE-494F-B561-310F7270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48300"/>
            <a:ext cx="2019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WORM: 일정 기간 변경/삭제 금지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B6DD21-1923-4FA0-B025-FE063615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53000"/>
            <a:ext cx="2362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06A5F6-4324-481E-A06B-9788C55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530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D404BD-A7AA-4DBD-B938-0B0A22A1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95875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Lifecycle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56582B-16AC-430D-9280-E49E35B4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48300"/>
            <a:ext cx="2019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오래된 버전 비용 제어</a:t>
            </a:r>
          </a:p>
        </p:txBody>
      </p:sp>
    </p:spTree>
    <p:extLst>
      <p:ext uri="{BB962C8B-B14F-4D97-AF65-F5344CB8AC3E}">
        <p14:creationId xmlns:p14="http://schemas.microsoft.com/office/powerpoint/2010/main" val="7247700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CCE468C-9FCF-474B-B769-26153BF7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D8D50549-2966-405E-A75D-A7D3201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5FCAE5D-8EEF-45D7-8693-5A7445A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240B0DF-1AAB-4219-A8C4-F9366F47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D1E5A7-CECA-4DE8-9882-1355E5ED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68747-1B90-4E56-AA77-6CB0FD50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객체 업로드는 후처리 파이프라인의 시작 신호가 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43AB2-4E69-401F-B506-EDCC5E7A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스토리지는 단순 보관소가 아니라 업무 흐름의 이벤트 소스가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6FF59-0F30-4580-980C-06EC906A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Event Notifications; GCS Pub/Sub notifications; Azure Event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F3A7F-9686-4462-91A0-607FC7E9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A4FE0-2106-48E5-A2F7-53488A5E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466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1f5486a62413a">
            <a:extLst>
              <a:ext uri="{96DAC541-7B7A-43D3-8B79-37D633B846F1}">
                <asvg:svgBlip xmlns:asvg="http://schemas.microsoft.com/office/drawing/2016/SVG/main" r:embed="R876fb92114ce47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5850" y="3105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0E0BC-8535-4AD4-8D4E-D66C672A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Object created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A5633-8901-4251-AF16-233678D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45184-92BC-455C-8855-2B4DA42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C8F4F-1A7C-43DC-A824-418A008F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1466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3cd27f5af48dd">
            <a:extLst>
              <a:ext uri="{96DAC541-7B7A-43D3-8B79-37D633B846F1}">
                <asvg:svgBlip xmlns:asvg="http://schemas.microsoft.com/office/drawing/2016/SVG/main" r:embed="Rfb08330f4d974a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3105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FDD6A-AEDB-49EA-9F63-9200CB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432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Event / Queue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F00EC-298D-40B6-8175-42CF5F30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78394-3E73-4227-8A39-5D0A31BF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F6245-1564-43CB-8B8B-CAE700B7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57500"/>
            <a:ext cx="1466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508185d0f4e34">
            <a:extLst>
              <a:ext uri="{96DAC541-7B7A-43D3-8B79-37D633B846F1}">
                <asvg:svgBlip xmlns:asvg="http://schemas.microsoft.com/office/drawing/2016/SVG/main" r:embed="R30a6d3a7fcbf49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34050" y="3105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FD300-CA19-48F1-92D8-EB5399E8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Worker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429E16-A9E1-45E9-B4AB-7C4AB404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F025E-14E5-410F-ABB8-A088948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90A696-1BE6-4C8E-BDCC-723C99CA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1466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22f2ef8e74c24">
            <a:extLst>
              <a:ext uri="{96DAC541-7B7A-43D3-8B79-37D633B846F1}">
                <asvg:svgBlip xmlns:asvg="http://schemas.microsoft.com/office/drawing/2016/SVG/main" r:embed="R477751d6cfd648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58150" y="3105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5EA5E3-99C2-4C1D-BC11-ACD0FB32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Index / DB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CE116-7119-4390-93C5-0D07422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147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EF799F-4ABA-4267-8A7B-FDA2B727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952EC6-0C3A-415A-91AE-BC3D4A2E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1466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d95ffe3ce4bcb">
            <a:extLst>
              <a:ext uri="{96DAC541-7B7A-43D3-8B79-37D633B846F1}">
                <asvg:svgBlip xmlns:asvg="http://schemas.microsoft.com/office/drawing/2016/SVG/main" r:embed="R9b4ea532b8d34e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82250" y="3105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F45E42-FDFF-437F-9E1D-36201E8E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432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Notify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A72016-31FF-4DD1-83AF-D71CACF9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10150"/>
            <a:ext cx="9220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7059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DF2533-2873-4C0C-BA29-5AECB75F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62550"/>
            <a:ext cx="891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운영 포인트: 이벤트 중복, 순서 뒤바뀜, worker 재시도에 대비해 idempotency key를 둡니다.</a:t>
            </a:r>
          </a:p>
        </p:txBody>
      </p:sp>
    </p:spTree>
    <p:extLst>
      <p:ext uri="{BB962C8B-B14F-4D97-AF65-F5344CB8AC3E}">
        <p14:creationId xmlns:p14="http://schemas.microsoft.com/office/powerpoint/2010/main" val="49875488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41CDB6E-A826-4C45-814C-BA47931F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3D134F0-5851-4E0A-9D11-D22A243C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25AE9B9C-B769-4418-82AD-68348C2B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AAE2E6D-A894-4F3C-96FD-7B186884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3481FC8-1838-4E47-87CD-7CC3A5B4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3FD66-2041-4475-8123-7698C9F1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정적 미디어 시스템은 스토리지 + CDN + 캐시 규칙이다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6A721-9717-44B9-A502-A19C1A72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사용자에게 빠르게 보이는 것은 저장소가 아니라 캐시 경로입니다.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E843E-0777-477E-B750-95FDEEF3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CloudFront/S3 pattern; Azure CDN/Blob; Cloud CDN/GCS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512F5-6779-48FC-A70F-1160916B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CC3F3-623F-4A76-A49D-256B9E68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1752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633936a0e4375">
            <a:extLst>
              <a:ext uri="{96DAC541-7B7A-43D3-8B79-37D633B846F1}">
                <asvg:svgBlip xmlns:asvg="http://schemas.microsoft.com/office/drawing/2016/SVG/main" r:embed="Ra458cb0842614b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3950" y="28765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EDCE6-7845-4995-89CF-4373B6F3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76550"/>
            <a:ext cx="112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Browser</a:t>
            </a:r>
          </a:p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GET /img/abc.webp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2F473-837C-4584-AA28-854EDEAC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1752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9e6b57c0b4bb1">
            <a:extLst>
              <a:ext uri="{96DAC541-7B7A-43D3-8B79-37D633B846F1}">
                <asvg:svgBlip xmlns:asvg="http://schemas.microsoft.com/office/drawing/2016/SVG/main" r:embed="Re328c2fd965545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8100" y="28765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FBE26-D340-4904-9FF7-DF3DE447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76550"/>
            <a:ext cx="112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CDN edge</a:t>
            </a:r>
          </a:p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cache hit?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05E5D-B0EC-4DB5-8DB8-AD22D1E5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1752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22f54c78346de">
            <a:extLst>
              <a:ext uri="{96DAC541-7B7A-43D3-8B79-37D633B846F1}">
                <asvg:svgBlip xmlns:asvg="http://schemas.microsoft.com/office/drawing/2016/SVG/main" r:embed="Ra5c2cc497b7c40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72250" y="28765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62CBF-24B7-4860-A505-57B7A808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76550"/>
            <a:ext cx="112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Origin access</a:t>
            </a:r>
          </a:p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private bucket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B3D7B-3FD1-4179-BFE6-ABA73287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43200"/>
            <a:ext cx="1752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6bff119784963">
            <a:extLst>
              <a:ext uri="{96DAC541-7B7A-43D3-8B79-37D633B846F1}">
                <asvg:svgBlip xmlns:asvg="http://schemas.microsoft.com/office/drawing/2016/SVG/main" r:embed="Rd74d4f6e0b9f4e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96400" y="28765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69709-DD2B-456A-8D70-746F9985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76550"/>
            <a:ext cx="1123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Object storage</a:t>
            </a:r>
          </a:p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fingerprinted 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A5932-0FBE-40E8-BD7A-F743E2CB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099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B4248-43A5-4C3D-921F-5ED7D72A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89B20-F205-4D22-A839-D53D869C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099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12FDD-C0B6-4543-84BF-EDA07BC8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CED30-8C6B-4342-80E1-4F9B24E6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99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B28414-E5BA-4C57-BEE6-9E3D5C3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95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B02448-9981-4925-A2DF-A96DC4D4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9412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45361A-4EF1-497D-9B2F-89D4ED8C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Cache-Control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B525B3-036E-47D5-81C0-41F25630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9412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4F1D87-6581-4D1F-A042-3A16268A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577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signed URL/cookie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705CFF-8172-43C7-8084-D2B4D062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9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9412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4B6DB-5226-472E-9116-AD2D600D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immutable file names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F5707D-BBBB-4C29-8C03-039C7960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19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9412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5AEE65-EAE5-41DF-A156-47230A76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577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origin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114431429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3CCD275-5549-4F67-90E6-9B68725F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D0B8EF9-7700-40B8-90FC-1640E22B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8B5FB6D8-DBFB-43CD-9C70-CE3DED96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721E553-FD2E-4DFA-A73F-329E6881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A5B180-470F-413A-BA45-FFB465EC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DATA LAKE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88F59-3D8F-40E8-917B-69E7DA98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데이터 레이크는 객체 스토리지를 테이블처럼 쓰게 만든다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898F2-C4FD-427C-9B8B-FFF20CDF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객체 파일에 포맷, 카탈로그, 쿼리 엔진이 붙으면 분석 플랫폼이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BD5F6-CEB6-4077-9B63-5792A95D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Tables/Iceberg mentions; Google Cloud Storage analytics guidance; Author synthesis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0B2AA-9723-4B3E-9E73-DBE14600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5ED69-A64F-4893-8486-436E2D4A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481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10196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DCD6E-1BC6-4164-A4C7-482C0BB9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38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Bronze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98A1A-61E9-4E03-94DA-DE78C2B4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raw events</a:t>
            </a:r>
          </a:p>
          <a:p xmlns:a="http://schemas.openxmlformats.org/drawingml/2006/main">
            <a:pPr algn="ctr">
              <a:defRPr sz="97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append-only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29401-A3E1-47FD-99A0-62DDCEA8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5981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10196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37085-89E8-4948-8C00-EE09265B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Silver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7A263-D130-4B0D-914F-049E8AD6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cleaned parquet</a:t>
            </a:r>
          </a:p>
          <a:p xmlns:a="http://schemas.openxmlformats.org/drawingml/2006/main">
            <a:pPr algn="ctr">
              <a:defRPr sz="97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partitioned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68E8E-BF7B-4497-AC3A-E0518566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38350"/>
            <a:ext cx="4533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10196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E0139-6DA3-4D8C-8E69-B603B4B2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288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Gold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AAACD-7394-4D67-900A-249ADAF4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curated tables</a:t>
            </a:r>
          </a:p>
          <a:p xmlns:a="http://schemas.openxmlformats.org/drawingml/2006/main">
            <a:pPr algn="ctr">
              <a:defRPr sz="975" b="0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202A"/>
                </a:solidFill>
                <a:latin typeface="Menlo"/>
                <a:ea typeface="Menlo"/>
                <a:cs typeface="Menlo"/>
              </a:rPr>
              <a:t>business metrics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d8958d9fb4957">
            <a:extLst>
              <a:ext uri="{96DAC541-7B7A-43D3-8B79-37D633B846F1}">
                <asvg:svgBlip xmlns:asvg="http://schemas.microsoft.com/office/drawing/2016/SVG/main" r:embed="R796bc90135404c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43053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D5D59-9183-4ED0-A62A-5800DAFB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events / files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94853f7424040">
            <a:extLst>
              <a:ext uri="{96DAC541-7B7A-43D3-8B79-37D633B846F1}">
                <asvg:svgBlip xmlns:asvg="http://schemas.microsoft.com/office/drawing/2016/SVG/main" r:embed="Rdb09246f9e0646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06050" y="28003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10585-F896-4E7F-BEC6-D559E5B5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718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SQL / 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63AE3-90D9-4234-B1C1-37C00BBF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06BF2-A974-4BD5-A2CC-F2D3E939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00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AE99D8-D802-4558-9728-F3424C1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2895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2ADE1-AD90-4988-9B90-7D73EE06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C83CA-1459-4EDD-8C3D-A0062B5E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7059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24755E-373F-4AB5-A942-29A16685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81650"/>
            <a:ext cx="8267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핵심: object storage는 싸고 오래 가는 바닥, table format은 질의 가능한 의미를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80281930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154B6CE-FBE8-4D08-B941-D5257B72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BABBDA6-F8D8-4890-8B31-B64E6486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46EBBBCC-28DD-4A30-90CE-26784AFD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126A99F-493C-4FE3-9D61-DCEEB866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CFE4C8-ED29-4249-9B70-0268CB5B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331A3-605F-48EA-A0C4-123811D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성능 병목은 저장소보다 요청 모양에서 자주 생긴다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80E35-71A5-4756-91AD-AAB7967A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스토리지 자체보다 호출 방식이 나쁠 때 더 자주 느려집니다.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B0C98-DBFE-4750-8DC2-B4CCC697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performance guidance; Google Cloud request rate guidance; Author synthesis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867EA-E8F0-4850-B88B-CE2DCDFE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E857C-A6FA-437F-9CC1-27CB156E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20383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C647C-B49A-4C71-81DC-BBFE76C3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작은 객체 폭증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36EBB-74FD-4BB8-8678-8965125B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61845-F545-4519-B00A-EB3418F3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102527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12632-BC9E-4A93-AB13-FA97A348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78%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D87E4-C57D-47AD-82C3-9AFD49CA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요청/metadata 비용 증가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14D38-B386-4C79-B0D6-4975C2AF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20383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4979E-B293-4DE4-9AFD-AFD0C5A7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리전 거리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98088-8781-443E-B9CC-58104FAF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718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B6A1B-747D-4B27-8BB9-3323E0C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71850"/>
            <a:ext cx="8149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E9E7D-C3DF-4077-8A29-5ED50B61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76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62%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72186-5E83-4A1E-9750-C8397F18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719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latency + egress 비용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BC035-CB4C-4A2C-80DA-14944F44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20383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53477-EC82-4BD8-B8CB-5024F46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동기 서버 프록시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B5523-BAB6-4309-8D50-2AA0C8C2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718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2FA7B-2912-4F07-B2B8-AB8B6816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71850"/>
            <a:ext cx="9201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E2DAF-DF88-4C60-B5EF-B09F44CF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76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70%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232CE7-BFE3-4AD3-A9FF-642A6E37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719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업로드 병목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A29629-0FEE-43BE-AEEB-957442F0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05050"/>
            <a:ext cx="20383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3B7DE-2DF4-47BF-99DA-53642099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비압축 로그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B7BB9-7B90-48C7-9873-5921B7F6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71850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61C6CF-8F5C-4655-95E9-80396F72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71850"/>
            <a:ext cx="11041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0B5332-EAC5-490C-8E89-CD1B1682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766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84%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F92E91-1610-486A-A9BE-9F570A7E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719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스캔 비용 증가</a:t>
            </a:r>
          </a:p>
        </p:txBody>
      </p:sp>
    </p:spTree>
    <p:extLst>
      <p:ext uri="{BB962C8B-B14F-4D97-AF65-F5344CB8AC3E}">
        <p14:creationId xmlns:p14="http://schemas.microsoft.com/office/powerpoint/2010/main" val="132398650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1EFE660-DC00-44D6-AB0F-38CE0DB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81E5561-343F-4636-A785-754B6285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3E1ECEE8-F60D-4A9D-9D57-792A1187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DBB8A24-BE79-4AA9-8866-C3C169E2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F6CDC1-A7DE-4C5B-93BE-9C86662C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COST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3D94D-032E-4014-9738-DE1C5B12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스토리지 비용은 GB 저장비보다 요청·송신·복구가 더 위험할 때가 많다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03816-4544-4B4A-9209-46B9A5F0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요금 계산은 숫자보다 항목을 빠뜨리지 않는 것이 먼저입니다.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FD85C-416F-4172-B7E6-8DBC2946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AWS/Azure/GCP pricing model docs; Azure access tier billing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26934-9B25-4846-9946-8C733B6A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7B089-5927-4708-B60B-38B5E497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1352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26667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71B8F-B028-431C-9BF5-E7584A22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A69F4-33B2-46E4-811C-1BC19E8E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GB-month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A6A42-4895-4EB3-8BE3-0CBD4202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148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4C3E8-0EDF-4154-BA9E-8C5DAA2B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05200"/>
            <a:ext cx="1352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26667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AE468-0519-4AAC-BA57-79CE1CB9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Requests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F5962-B8C1-44D5-BC00-4CB5B0FF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00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PUT/GET/LIST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76525-7165-4F71-AB29-E0E2D8E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148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E3FD7-E86B-4E22-A3E5-E2274B13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1352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26667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A135F-4CB4-41BE-A756-E1EF228B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33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Transfer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2FE2C-A290-40D9-9493-A54FF29E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00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egress/cross-region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93B4D-210D-40BA-8A8D-50E95E7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79BE0-1FF4-47DC-B33F-6029D329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26667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91207-7196-43FF-8D64-79B7DA11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Retrieval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E3E36-64E6-4DE7-964D-72B708AB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00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archive/cool 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16562-2E27-46EE-919E-0BFBD8A3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E9952A-A44D-4038-A9A8-7D01E5DD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F8">
              <a:alpha val="26667"/>
            </a:srgbClr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5CE1CF-0814-41B9-80B6-6116058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Retention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91F4E-4D6F-4B49-B925-B7714D69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006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early deletion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18E6B3-F35F-4074-8A7C-91872954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43100"/>
            <a:ext cx="8610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7059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49A3F6-CA6F-4FA0-8303-3083BBD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95500"/>
            <a:ext cx="830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가격 숫자는 바뀝니다. 하지만 비용 항목의 구조는 설계 리뷰에서 계속 반복됩니다.</a:t>
            </a:r>
          </a:p>
        </p:txBody>
      </p:sp>
    </p:spTree>
    <p:extLst>
      <p:ext uri="{BB962C8B-B14F-4D97-AF65-F5344CB8AC3E}">
        <p14:creationId xmlns:p14="http://schemas.microsoft.com/office/powerpoint/2010/main" val="66325876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39734D1-8CC9-4463-BB73-C26CAE9E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0D66099-8B04-4BD1-933D-930CEB86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BE874771-A2C9-49CB-9DCF-B8311335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EE48F8C-5B7A-4523-A0DB-31E07448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7F90B60-54F1-43DA-9923-94A64B6F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FINOPS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1E011-5A65-47D4-9260-EA6CCC35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비용 최적화는 삭제보다 관측에서 시작한다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DA773-7F83-46FF-8F53-8FE33B84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무작정 archive로 보내기 전에 무엇이 있는지부터 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80355-CB72-4842-B61D-DA98969C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Storage Lens/Inventory; GCS lifecycle docs; Azure lifecycle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43B14-E4F0-4E35-9ED6-07CD354E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CEC22-826B-4825-AB94-3EFCD2A7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81200"/>
            <a:ext cx="163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C8E6B-5C9E-4A2F-B756-BDF969E6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33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A783F-C3B8-4F2D-A84F-59F8B968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Inventory /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3BE53-A4AD-409B-B55E-FA5383C6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260" y="3034258"/>
            <a:ext cx="163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05FAE-8FDA-469F-84EE-81D13D1D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610" y="3186658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Classify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A28D2-B1CC-4ED3-80A6-7117171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560" y="3491458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owner / retention /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1EAA1-B324-4D22-AF55-9C244337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635" y="4738142"/>
            <a:ext cx="163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80244-7855-41FB-AA5B-08BD3648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985" y="4890542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32E65-B533-4D48-86A1-C24AB7F8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935" y="5195342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prefix-limited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3F81C-458A-45B5-A60E-B3154F71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065" y="4738142"/>
            <a:ext cx="163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A5235-6041-41EA-A40F-2B332764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415" y="4890542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Automate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4F9FB-BFF7-4F46-BAE3-2B8686E2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365" y="5195342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lifecycle + alerts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1ADFE-EDE7-48EF-A0E7-E703D318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440" y="3034258"/>
            <a:ext cx="163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11B4D-21B8-4D0D-A57C-CE84EB19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790" y="3186658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A5A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7A5AF8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F71AE-629F-4CEA-AF88-B500C642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740" y="3491458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06D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52606D"/>
                </a:solidFill>
                <a:latin typeface="Menlo"/>
                <a:ea typeface="Menlo"/>
                <a:cs typeface="Menlo"/>
              </a:rPr>
              <a:t>monthly anomaly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0C042-3AA8-4D2D-8EBD-C5E6BA33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110507-ED90-4703-9641-57391156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957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FinOps</a:t>
            </a:r>
          </a:p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161427688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5AC44FF-3E59-40D5-BBCF-5A5B8FD9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1FE24459-7412-4894-A8E0-2A1AB56A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C1E692B9-F926-4B43-BB69-932FAEAE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57FFDE-5196-4A73-8132-2997F2C9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F1AF3A-D898-4398-9C51-7C487E81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BACKUP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24E24-84C0-4B1E-96E5-DC615AC6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백업은 저장이 아니라 복원 시간 약속이다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6AC00-A9C3-4682-B600-7F3C330E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복사본이 있다고 끝이 아니라, 언제 어느 정도로 되돌릴 수 있는지가 계약입니다.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2CEAD-33D8-43E7-A592-48CB19BE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Author synthesis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15AF9-3613-45D4-8A11-6B6FAB61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B12AE-A915-432A-BE51-71EF4C01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RTO: 복구까지 걸리는 시간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058A2-7A86-49C0-B849-D50DF8EC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RPO: 잃을 수 있는 데이터 시간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A62AF-76E0-4988-87F9-5FE722A6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57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낮은 RTO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E06B4-86BF-40C3-94D3-587E4D16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57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중간 RTO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A1D40-9B3D-4830-9671-A9FEA47E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57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높은 RTO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4F7EC-B321-4231-A477-8328D5D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낮은 RPO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D0294-5B51-41E7-9B6F-3F5915CB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중간 RPO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678DC-63C9-4E9C-891B-1FC02A1A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863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높은 RPO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BC1F6-CF60-46D3-B46E-78466619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03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9412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F85F9-EEB5-480C-AFA4-DC570523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479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hot standby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0F85A-21E4-4AA7-A996-6E26B741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9412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74412-52B9-40D2-82F3-CE0E618C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479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replica + restore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218E58-F082-4F7A-845A-7692558D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9412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FC57E-3FD0-4CC2-9D7E-86BD61CD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daily backup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8416D-72BF-44E4-B076-2837A263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9412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67250-8577-4589-930E-3C6041E5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async replica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E7512-4A8D-4D93-B50F-A1D5637E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9412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13B28-84B6-4471-8610-16E7E1A1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004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snapshot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A7D0A0-8F32-45F9-94F5-D2E3DC90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9412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F31443-5B0E-4952-809C-5AE21864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004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archive copy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72597D-A2B6-4E8B-8B1D-5B6ACE38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9412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847B9E-42F5-49BF-9E3D-E4B7AB05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529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manual export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60FF8F-F277-4497-89B3-0FEF7C7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053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9412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E0D801-3471-4586-93D5-00EA0EAB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529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cold restore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5CF8ED-D601-4AD3-BEBC-FB804B34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053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F8">
              <a:alpha val="9412"/>
            </a:srgbClr>
          </a:solidFill>
          <a:ln xmlns:a="http://schemas.openxmlformats.org/drawingml/2006/main" w="9525">
            <a:solidFill>
              <a:srgbClr val="7A5AF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15E5BE-C544-4FD5-A85A-83438EE9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529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cheap archive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5CE4FC-CE09-4421-B3AA-FD5E2B3A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53050"/>
            <a:ext cx="655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7059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B78C1-469D-4283-A7AB-6FFDF594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05450"/>
            <a:ext cx="624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백업 정책은 반드시 복원 리허설로 검증해야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30416247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4B9220B-EE99-4E91-9160-6B3FB835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9C67D04-91E5-4DBA-B2CF-2DC575F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1F4B506D-507E-4231-B50E-863F5760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3A4C6DA-0AC1-4129-85D1-BBF1454A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2AB710D-8BCE-465A-9AE2-3F15EF04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REPLICATION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03727-602E-4167-A3DF-734E7714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복제는 가용성만이 아니라 법·지연·비용 선택이다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04DBF-954A-4291-8C18-F8ABA6FA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데이터 위치는 장애 대응과 규제, 사용자 지연시간, 비용을 동시에 바꿉니다.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F21EF-F328-42FE-851A-C1AB0AB6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Replication; Azure redundancy; Google Cloud location/redundancy 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BDFC0-450D-4055-A2F6-DF7EC78C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E8016-4608-4290-9EF9-BA6294AF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152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21651-8D83-4436-8B51-64A493DF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9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>
              <a:alpha val="13333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B20E0-DF69-4D6F-A932-5348CCA7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>
              <a:alpha val="26667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A0941-24FC-4B78-A731-07521D52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Single 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A9F61-0A1A-4EB7-9F1F-0ADB3FF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낮은 비용</a:t>
            </a:r>
          </a:p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단순 운영</a:t>
            </a:r>
          </a:p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리전 장애 취약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1D900-5385-4790-81BC-72A63135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47900"/>
            <a:ext cx="2152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52429-6334-4E3D-BFD6-440E96E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>
              <a:alpha val="13333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26F76-425A-41F3-B958-60BE27A9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>
              <a:alpha val="26667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FE26E-C08D-4194-80AE-BA9C83AB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480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Same-region replica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B33C0-BDAE-4E81-A61E-54BAC9B7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862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삭제/실수 방어</a:t>
            </a:r>
          </a:p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빠른 복구</a:t>
            </a:r>
          </a:p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동일 리전 의존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E0E3C-49A8-432E-B93F-FD7EE754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152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DE59A4-8C39-422C-BC86-984D66E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09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2B">
              <a:alpha val="13333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23E7E-0DB1-4BCD-8C7F-7A6417D2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2B">
              <a:alpha val="26667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D721A-D9B4-4BA0-969D-581FD4C3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Cross-region replica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9C9630-2163-4DC4-B037-C7838D41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재해 복구</a:t>
            </a:r>
          </a:p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지역 사용자 근접</a:t>
            </a:r>
          </a:p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전송/복제 비용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8E779C-9B00-4744-AF11-79FD7C89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152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68343-F7D3-4071-A7CD-E6F59B23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09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34F">
              <a:alpha val="13333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AF4CB-3177-4ECB-8ECF-B7EFEBF2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34F">
              <a:alpha val="26667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DC828-AB0E-4933-9EE9-A5002E05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480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Multi-region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9F0272-6985-4F9B-B327-E6E7C625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높은 가용성</a:t>
            </a:r>
          </a:p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복잡한 정책</a:t>
            </a:r>
          </a:p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데이터 주권 검토</a:t>
            </a:r>
          </a:p>
        </p:txBody>
      </p:sp>
    </p:spTree>
    <p:extLst>
      <p:ext uri="{BB962C8B-B14F-4D97-AF65-F5344CB8AC3E}">
        <p14:creationId xmlns:p14="http://schemas.microsoft.com/office/powerpoint/2010/main" val="107657635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1BC7C61-5493-42AE-BA01-E1BC9AAA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F89A9A1-7833-488E-80EC-E5CCB1DB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2A70D761-4B33-4543-8802-FB1AAD31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03A1B64-922C-4307-9262-82DCC1DF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F0FD78-1439-465F-A25C-A20D9300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OBSERVABILITY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2A59F-BE3B-4431-BAAB-797A2D0E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운영 가능한 버킷은 용량보다 노출과 실패를 먼저 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DCD29-FB0F-4E8B-9F53-80A8FF51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운영 대시보드는 '얼마나 썼나'보다 '무엇이 위험한가'를 먼저 보여야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E2BA1-FF66-4C93-A42A-168A6067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AWS S3 monitoring/logging; Azure Monitor; Google Cloud monitoring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441CF-BA12-41AC-8AA7-D13690CB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A8B03-9F35-43E9-9CB8-005D651F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914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F1766-D8D6-4B60-A4C9-D0FB462C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Public exposure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83256-2BC4-4E07-8FCA-DF5F6C4E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0 buckets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62A87-2D90-492A-9B78-27CC47A2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>
              <a:alpha val="13333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2250C-CAF7-4224-9DC1-D64FB0CF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14550"/>
            <a:ext cx="2914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6D947-BC8A-4BA5-B409-6B67BF99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4xx / 5xx errors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46E19-8266-485F-94E4-83E4B1C6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spike alert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C5839-A4E3-4F84-8586-3BD88E8F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34F">
              <a:alpha val="13333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C944E-E5DC-4B2B-84FE-7C0CDA68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2914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F597F-0F9C-441F-8BF3-266A4FF7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Replication lag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0020D-6FD7-45AF-B3F5-ADC7D60A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&lt; 15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7579C-6C95-4FB6-8922-F85330D9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19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2B">
              <a:alpha val="13333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C7970-FD8E-4B97-BE65-BAB2822B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2914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5C3CB-C021-4DEF-AA95-60ED6931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Lifecycle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0B26E3-5F83-4A53-8FC6-BB77C468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12k/day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2418B-2945-455A-B55B-078B2D9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86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>
              <a:alpha val="13333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13CA56-71E5-47A5-A391-19AECAD2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2914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DD78D-DEDA-4337-8308-430F2BD2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Cost anomaly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4E82E-D6F7-49DA-AED8-C14D5983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33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+18% WoW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FCC241-1577-4562-A810-F056C8AB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86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34F">
              <a:alpha val="13333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3762A-D5DB-47D1-B3B4-ABA114A4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81400"/>
            <a:ext cx="2914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6A2FAF-0B47-4310-BBC8-3EA860F8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Inventory 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7C8159-1E24-494B-98FF-0003D82A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24h fresh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0D3225-FA7F-409B-8AE7-97A8316A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86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AA80">
              <a:alpha val="13333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CDD661-919E-4210-96CE-6F24E341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34000"/>
            <a:ext cx="9182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7059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60F12F-A7CD-464B-AC85-77D08C72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86400"/>
            <a:ext cx="887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알람은 지표 이름이 아니라 대응 행동으로 연결되어야 합니다: revoke, retry, restore, investigate.</a:t>
            </a:r>
          </a:p>
        </p:txBody>
      </p:sp>
    </p:spTree>
    <p:extLst>
      <p:ext uri="{BB962C8B-B14F-4D97-AF65-F5344CB8AC3E}">
        <p14:creationId xmlns:p14="http://schemas.microsoft.com/office/powerpoint/2010/main" val="168617918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B95F07D-F5B1-46E0-B0EB-F7CFEB12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AF5A7618-F619-4F3E-BD67-7D8DE300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A787D90-D08F-4A59-A1D9-80929ADF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B731368-4183-42EA-AF9E-EE998B1E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54E717-0A96-4641-8046-E6CEB36D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PATTERN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D79B5-420A-447D-94AC-BDCC078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사용자 이미지 서비스는 업로드보다 검증과 배포가 더 중요하다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1B1F5-1AA9-48A2-ABC6-ACC650DA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업로드 성공보다 중요한 것은 검증 전 공개를 막고 상태를 일관되게 만드는 것입니다.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A561C-5E5B-49B5-BB02-ACF1CFD9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Author synthesis using provider upload/event/CDN 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A34A8-B8D4-40B7-B194-CD69BAED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CFAC-A1B8-411F-9B8B-65650970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911c7ec0445ac">
            <a:extLst>
              <a:ext uri="{96DAC541-7B7A-43D3-8B79-37D633B846F1}">
                <asvg:svgBlip xmlns:asvg="http://schemas.microsoft.com/office/drawing/2016/SVG/main" r:embed="Rdf904d99bfdf43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" y="27813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0E316-1537-4488-A24A-2F504F3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1DF57-A0A8-4943-8374-617D6220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479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7fec83ed3460f">
            <a:extLst>
              <a:ext uri="{96DAC541-7B7A-43D3-8B79-37D633B846F1}">
                <asvg:svgBlip xmlns:asvg="http://schemas.microsoft.com/office/drawing/2016/SVG/main" r:embed="R0978d27d371446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14600" y="27813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971DF-A75F-472A-8B40-900F4CAD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API</a:t>
            </a:r>
          </a:p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sign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FC294-EF8F-470D-8CC9-0484E972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a970f145d48d6">
            <a:extLst>
              <a:ext uri="{96DAC541-7B7A-43D3-8B79-37D633B846F1}">
                <asvg:svgBlip xmlns:asvg="http://schemas.microsoft.com/office/drawing/2016/SVG/main" r:embed="R9948502fca2846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00550" y="27813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39C9F-C858-485E-B11B-243356AE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Raw bucket</a:t>
            </a:r>
          </a:p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private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F784E-0FF7-4A62-A1F2-46C31A64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f5e9ba52e4e95">
            <a:extLst>
              <a:ext uri="{96DAC541-7B7A-43D3-8B79-37D633B846F1}">
                <asvg:svgBlip xmlns:asvg="http://schemas.microsoft.com/office/drawing/2016/SVG/main" r:embed="R2a61e9addf9d4a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29350" y="27813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A2371-EF81-4286-B0AE-286038FE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81300"/>
            <a:ext cx="72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9BFBB-3557-4BF8-9420-6A0189C9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479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88f07ffb2462f">
            <a:extLst>
              <a:ext uri="{96DAC541-7B7A-43D3-8B79-37D633B846F1}">
                <asvg:svgBlip xmlns:asvg="http://schemas.microsoft.com/office/drawing/2016/SVG/main" r:embed="R62258b1bca6841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0" y="27813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E7B45-4A46-4CAE-B2BE-8A982CC5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Scan + resize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82997-80B0-4F73-B226-31357E3C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352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8ba8304dd43ab">
            <a:extLst>
              <a:ext uri="{96DAC541-7B7A-43D3-8B79-37D633B846F1}">
                <asvg:svgBlip xmlns:asvg="http://schemas.microsoft.com/office/drawing/2016/SVG/main" r:embed="Ree47720f7fe045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44100" y="27813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3DB53-0C6F-4D2D-8D5F-F0A1BAB7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81300"/>
            <a:ext cx="723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Public CDN</a:t>
            </a:r>
          </a:p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processed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BB2D9-C928-4CCF-A610-D27C9B74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861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EF03FC-F11B-4F92-856E-B5D2C2B4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02FAF5-F002-4693-AE36-49D7F428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861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5850BC-3B51-4341-8AE9-138E785C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505EBB-D62D-4085-92EB-6FA28FF6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861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EFE7A7-05A3-4A57-97F2-C16C2030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57CE7D-A10A-4130-B77D-BA13458C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861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C8CD39-DFD7-4551-AB9B-0A107A64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A3980-5D00-4EC3-B0DA-38F26E2C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861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ED81FC-9B6B-431A-B219-4808AFD0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48B3D0-8F0A-45A2-A9FD-F18809E2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149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A95D48-2C36-45BD-9CCB-9F6006A7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149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45750A-FB54-4458-86B6-A132FDFC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577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DB 상태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7E5F11-D7DC-4105-9618-94F534EB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102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uploaded / scanned / published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7F3E22-787B-4716-8B5E-8ECD9675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149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E25083-F462-445D-BF54-B8CF0933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149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BC670A-9263-4B0D-9E47-4D3A3B31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577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보안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C6E49C-BFF8-4F49-BED6-3D596F6D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102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scan 전 object는 private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10A110-E9B9-40FC-80B2-90CA7394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1490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069683-7F5B-453A-95D6-3F64813C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149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B0A2C1-AF28-4CB3-951D-6B455F11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577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88595C-B505-4234-8A7E-7F3364BA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102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orphan raw files lifecycle</a:t>
            </a:r>
          </a:p>
        </p:txBody>
      </p:sp>
    </p:spTree>
    <p:extLst>
      <p:ext uri="{BB962C8B-B14F-4D97-AF65-F5344CB8AC3E}">
        <p14:creationId xmlns:p14="http://schemas.microsoft.com/office/powerpoint/2010/main" val="131245563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E09DEDB-16F8-4F61-8080-0038BA0C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1E626BF-E2DB-4D81-9E58-459FC421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E26B071-8F20-4F7F-B115-3D1D7930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3106C5-B208-4BFB-B0E1-6EBB9636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78F09C-09C1-4427-B2BA-C54E6505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PATTERN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4D3E4-99E3-4806-8B22-DF7D75C2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로그 보관소는 저장보다 파티션과 삭제 정책이 성패를 가른다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8BF1C-E60A-42C7-AC87-DCC780B6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Author synthesis using object storage and data lake practices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8F5B1-C4A8-45C1-8F12-5D614CE9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28300-4DAE-4789-8820-6F4A5292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로그는 잘 넣는 것보다 나중에 싸고 빠르게 찾게 만드는 것이 어렵습니다.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192B9-A2A7-4BD3-BED6-042C3688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3d0c2d68c4689">
            <a:extLst>
              <a:ext uri="{96DAC541-7B7A-43D3-8B79-37D633B846F1}">
                <asvg:svgBlip xmlns:asvg="http://schemas.microsoft.com/office/drawing/2016/SVG/main" r:embed="R1af6aea39f2b43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27622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ACFE5-6F21-4E28-9234-89661C3C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62250"/>
            <a:ext cx="1181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App servers</a:t>
            </a:r>
          </a:p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stdout/log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63EAD-ECF8-481D-A975-3F3694DC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2890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d15ffbd2743b1">
            <a:extLst>
              <a:ext uri="{96DAC541-7B7A-43D3-8B79-37D633B846F1}">
                <asvg:svgBlip xmlns:asvg="http://schemas.microsoft.com/office/drawing/2016/SVG/main" r:embed="R98c0f22893fe40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76600" y="27622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B7479-14CA-467A-B066-A983FB7A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Buffer</a:t>
            </a:r>
          </a:p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stream /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22D68-55B0-48AA-9F67-45ABAC7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9748dab3144b3">
            <a:extLst>
              <a:ext uri="{96DAC541-7B7A-43D3-8B79-37D633B846F1}">
                <asvg:svgBlip xmlns:asvg="http://schemas.microsoft.com/office/drawing/2016/SVG/main" r:embed="R559793be0d5549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72100" y="24765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56D8D-B787-4461-A462-E482300D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76500"/>
            <a:ext cx="1371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Object storage</a:t>
            </a:r>
          </a:p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raw partition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FF62E-0E1F-454B-BA97-962B4FD3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dcf92a3774f3e">
            <a:extLst>
              <a:ext uri="{96DAC541-7B7A-43D3-8B79-37D633B846F1}">
                <asvg:svgBlip xmlns:asvg="http://schemas.microsoft.com/office/drawing/2016/SVG/main" r:embed="R45dc0e988de841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72100" y="37719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D2409-B1AF-421E-930A-58B97FEB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71900"/>
            <a:ext cx="1371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Compaction</a:t>
            </a:r>
          </a:p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Parquet + schema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9E77E-18CD-47F1-9DEC-38F52540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fb58c29fe453a">
            <a:extLst>
              <a:ext uri="{96DAC541-7B7A-43D3-8B79-37D633B846F1}">
                <asvg:svgBlip xmlns:asvg="http://schemas.microsoft.com/office/drawing/2016/SVG/main" r:embed="R5132167984414d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39100" y="31051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FEABB-4E2C-4E6C-9D97-61D160D0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1562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Catalog + query</a:t>
            </a:r>
          </a:p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Athena/BigQuery/etc.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20552C-77B6-43F8-A56C-8ED1AF4A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575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0D31DE-66A3-4492-8CDA-2173FA9B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C8FA5-C1F9-4CE8-A072-DF9B7B77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575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449A95-53AB-4A42-B5C2-46D5F76F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5FB59-7BB9-420F-BB7D-225757A7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1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32E4EB-0F80-49D4-A4DF-8B013F4D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09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C22884-D5F1-40FD-9E43-4905991A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0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E7A970-5E51-4193-AD3F-E39F2F8A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52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9C0B1"/>
                </a:solidFill>
                <a:latin typeface="Apple SD Gothic Neo"/>
                <a:ea typeface="Apple SD Gothic Neo"/>
                <a:cs typeface="Apple SD Gothic Neo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EE1EE-2CD2-4C3E-BC11-BE190212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>
              <a:alpha val="9412"/>
            </a:srgbClr>
          </a:solidFill>
          <a:ln xmlns:a="http://schemas.openxmlformats.org/drawingml/2006/main" w="9525">
            <a:solidFill>
              <a:srgbClr val="2F6D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0B5E66-5831-48D6-83A7-7CF28575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816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dt=YYYY-MM-DD/hour=HH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EE145D-B842-40E5-86EC-F5C12BDA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435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80">
              <a:alpha val="9412"/>
            </a:srgbClr>
          </a:solidFill>
          <a:ln xmlns:a="http://schemas.openxmlformats.org/drawingml/2006/main" w="9525">
            <a:solidFill>
              <a:srgbClr val="2DAA8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C8C5D0-65DE-457B-9786-9000497C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816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gzip/zstd 압축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B7B18B-F1D4-4783-AEFD-175E7696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9412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C16AA6-8D54-4957-8B90-0998ECE7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90일 hot, 1년 cold, 이후 삭제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3EB2D7-9029-499E-8496-F38F0D8A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34F">
              <a:alpha val="9412"/>
            </a:srgbClr>
          </a:solidFill>
          <a:ln xmlns:a="http://schemas.openxmlformats.org/drawingml/2006/main" w="9525">
            <a:solidFill>
              <a:srgbClr val="E7634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31C4F4-247B-4BD7-87CE-1A03E2E1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816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PII masking</a:t>
            </a:r>
          </a:p>
        </p:txBody>
      </p:sp>
    </p:spTree>
    <p:extLst>
      <p:ext uri="{BB962C8B-B14F-4D97-AF65-F5344CB8AC3E}">
        <p14:creationId xmlns:p14="http://schemas.microsoft.com/office/powerpoint/2010/main" val="104488733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F452C5-9F61-4A50-8653-EB125A34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0815D16-F7CF-4553-B98A-D1DF5195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C671CF33-18AF-44B8-B2FD-A009EB09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227B2F6-FE81-4AFB-81E2-8ED99773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A4E4F03-0F36-4BBC-821F-E8C23148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1AF30-75AA-46E8-AE99-706DBC33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미니 설계 과제: 하루 1TB 사진 서비스를 설계해 보자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4AAAE-AFB8-4D43-B2AA-C05D8B09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정답보다 trade-off를 설명하는 능력을 보는 8분 설계 토론입니다.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0FC46-F5B9-4E8C-A93D-F5A4EE8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746B5F"/>
                </a:solidFill>
                <a:latin typeface="Apple SD Gothic Neo"/>
                <a:ea typeface="Apple SD Gothic Neo"/>
                <a:cs typeface="Apple SD Gothic Neo"/>
              </a:rPr>
              <a:t>Workshop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0B089-8E26-44A5-BB35-59CAE10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32035-384A-49F8-804F-57AF2B16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914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E6723-3B2D-4103-9B5A-1201E906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6DF6"/>
                </a:solidFill>
                <a:latin typeface="Apple SD Gothic Neo"/>
                <a:ea typeface="Apple SD Gothic Neo"/>
                <a:cs typeface="Apple SD Gothic Neo"/>
              </a:rPr>
              <a:t>Workload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9FDF0-A10D-4A0B-AC0B-42DAAC42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하루 1TB, 70% 모바일, 피크 10배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38564-7BAA-49BF-8CA8-B9D00AEB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2914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D33A9-0036-46A9-938B-69C06C67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Upload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41D46-CF39-47A4-8365-7E3B150E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서버 경유? 직접 업로드? multipart?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DE66E-325D-4AE2-84A7-86BC2906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2914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A1C48-8EED-4A03-B679-E4A34776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D79A2B"/>
                </a:solidFill>
                <a:latin typeface="Apple SD Gothic Neo"/>
                <a:ea typeface="Apple SD Gothic Neo"/>
                <a:cs typeface="Apple SD Gothic Neo"/>
              </a:rPr>
              <a:t>Keys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D992E-1B2A-495B-B7A5-7EDA11A7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tenant/date/user/hash 중 무엇을 prefix로 둘까?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65509-2792-409D-9B3F-9C0A6F05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914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E9312-9E1B-404C-B82A-6C30537A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E7634F"/>
                </a:solidFill>
                <a:latin typeface="Apple SD Gothic Neo"/>
                <a:ea typeface="Apple SD Gothic Neo"/>
                <a:cs typeface="Apple SD Gothic Neo"/>
              </a:rPr>
              <a:t>Security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E52FF-61C2-4958-AFDD-3975EC3F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스캔 전 공개 방지, 임시 URL, 로그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D9D87-55C7-42A4-BE06-81CD37E2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914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1AA0C-1E20-4281-8BA4-CA96A452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5A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7A5AF8"/>
                </a:solidFill>
                <a:latin typeface="Apple SD Gothic Neo"/>
                <a:ea typeface="Apple SD Gothic Neo"/>
                <a:cs typeface="Apple SD Gothic Neo"/>
              </a:rPr>
              <a:t>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4E2DAC-9E69-4765-9491-CD0E1C3F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원본/썸네일 보관 기간과 storage class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BDC2E-635E-409E-A5CD-D48E1595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2914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655A9-6C7D-429A-8582-2819ABA9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DAA80"/>
                </a:solidFill>
                <a:latin typeface="Apple SD Gothic Neo"/>
                <a:ea typeface="Apple SD Gothic Neo"/>
                <a:cs typeface="Apple SD Gothic Neo"/>
              </a:rPr>
              <a:t>Recovery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7F6DA-048B-4D23-A0B8-17876A75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06D"/>
                </a:solidFill>
                <a:latin typeface="Apple SD Gothic Neo"/>
                <a:ea typeface="Apple SD Gothic Neo"/>
                <a:cs typeface="Apple SD Gothic Neo"/>
              </a:rPr>
              <a:t>삭제 복구, 리전 장애, RPO/RTO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5FF66-5FFD-451A-9111-E273397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34000"/>
            <a:ext cx="765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>
              <a:alpha val="7059"/>
            </a:srgbClr>
          </a:solidFill>
          <a:ln xmlns:a="http://schemas.openxmlformats.org/drawingml/2006/main" w="9525">
            <a:solidFill>
              <a:srgbClr val="D79A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1173C-F408-47CA-BC7E-1197DFB7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86400"/>
            <a:ext cx="735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202A"/>
                </a:solidFill>
                <a:latin typeface="Apple SD Gothic Neo"/>
                <a:ea typeface="Apple SD Gothic Neo"/>
                <a:cs typeface="Apple SD Gothic Neo"/>
              </a:rPr>
              <a:t>발표 규칙: 선택한 구조 하나와 포기한 것 하나를 같이 말합니다.</a:t>
            </a:r>
          </a:p>
        </p:txBody>
      </p:sp>
    </p:spTree>
    <p:extLst>
      <p:ext uri="{BB962C8B-B14F-4D97-AF65-F5344CB8AC3E}">
        <p14:creationId xmlns:p14="http://schemas.microsoft.com/office/powerpoint/2010/main" val="197440333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17139F7-5907-4304-B480-3A08992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CC038BF-880E-49B3-B2F8-E8540EE5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8DE4C4F-69F1-4D72-A574-41976562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B555F30-B420-4BE2-9E68-246A36D7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D2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7D2E2"/>
                </a:solidFill>
                <a:latin typeface="Apple SD Gothic Neo"/>
                <a:ea typeface="Apple SD Gothic Neo"/>
                <a:cs typeface="Apple SD Gothic Neo"/>
              </a:rPr>
              <a:t>TAKEAWAY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285D9-A765-446F-88EC-6E784D92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현업에서는 이 10가지만 물어도 설계 품질이 크게 올라간다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CD5D7-6294-434D-9C6B-CBB49DA5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2E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8E2EF"/>
                </a:solidFill>
                <a:latin typeface="Apple SD Gothic Neo"/>
                <a:ea typeface="Apple SD Gothic Neo"/>
                <a:cs typeface="Apple SD Gothic Neo"/>
              </a:rPr>
              <a:t>벤더별 화면보다 중요한 것은 반복 가능한 질문입니다.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B3553-8C97-470B-8FA7-893FE6EF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D682D-7243-4986-9EDF-6454C554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rPr>
              <a:t>1. 데이터 단위는 block/file/object 중 무엇인가?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29304-A915-4445-B5FB-774F8A2F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98B2A-2F97-4936-BC5A-C839876A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rPr>
              <a:t>2. key와 metadata가 운영 기준을 담는가?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C9EE5-C375-46D7-9375-4259F1EF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1705E-F78E-413E-9E69-81245BF5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rPr>
              <a:t>3. 기본 비공개와 최소 권한이 보장되는가?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9FCBD-A817-4555-8A5D-4A9E8CB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F3943-162B-4BB8-8A83-0B3230A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rPr>
              <a:t>4. 직접 업로드와 multipart가 필요한가?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87658-A958-4A34-9554-357E162F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88CF3-82C6-4949-AF66-C8A777A6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rPr>
              <a:t>5. storage class와 lifecycle 기준이 명확한가?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34F1A-3EE4-4264-B8F7-3FF81B1B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D4CC8-B281-459E-9F3B-34D4EA35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rPr>
              <a:t>6. 삭제 사고를 버전/불변성으로 복구할 수 있는가?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F4E3A-69C3-4ACE-BB77-0F720BA0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83E4E-E640-4921-8249-3135BE26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rPr>
              <a:t>7. 이벤트 후처리는 idempotent한가?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A657A-9490-4C05-A748-E2BF5601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68698-79DE-4791-8420-50DD1B3B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rPr>
              <a:t>8. CDN/캐시/서명 URL 경계가 분리되어 있는가?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0D2145-159D-46AE-96F5-894503C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A12CB-C831-4349-B647-95012FC3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rPr>
              <a:t>9. 비용 항목에 egress, request, retrieval이 포함되는가?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BE307-DF91-49C2-9D66-D421C58D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C40"/>
          </a:solidFill>
          <a:ln xmlns:a="http://schemas.openxmlformats.org/drawingml/2006/main" w="9525">
            <a:solidFill>
              <a:srgbClr val="2945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1FBDE4-7B22-4802-9B82-921AAF63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5EEF7"/>
                </a:solidFill>
                <a:latin typeface="Apple SD Gothic Neo"/>
                <a:ea typeface="Apple SD Gothic Neo"/>
                <a:cs typeface="Apple SD Gothic Neo"/>
              </a:rPr>
              <a:t>10. RPO/RTO와 복원 리허설이 있는가?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D356C-508E-4DB3-9855-7A7EED39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962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2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9DB2C8"/>
                </a:solidFill>
                <a:latin typeface="Apple SD Gothic Neo"/>
                <a:ea typeface="Apple SD Gothic Neo"/>
                <a:cs typeface="Apple SD Gothic Neo"/>
              </a:rPr>
              <a:t>공식 문서: AWS S3 User Guide | Microsoft Learn Azure Blob Storage | Google Cloud Storage docs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340CD9-DFC9-4DE5-85B1-7C9839BB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FA2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8FA2B8"/>
                </a:solidFill>
                <a:latin typeface="Apple SD Gothic Neo"/>
                <a:ea typeface="Apple SD Gothic Neo"/>
                <a:cs typeface="Apple SD Gothic Neo"/>
              </a:rPr>
              <a:t>Official docs listed in speaker notes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7C280-DD31-4605-B296-172995F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7D2E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7D2E2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574092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2026-06-14T06:13:04.7960000Z</dcterms:created>
  <dcterms:modified xsi:type="dcterms:W3CDTF">2026-06-14T06:13:04.7960000Z</dcterms:modified>
</coreProperties>
</file>